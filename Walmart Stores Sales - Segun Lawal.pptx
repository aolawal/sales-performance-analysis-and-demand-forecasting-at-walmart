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2" r:id="rId2"/>
    <p:sldId id="263" r:id="rId3"/>
    <p:sldId id="264" r:id="rId4"/>
    <p:sldId id="256"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14A7A-D9BC-4D8F-9768-A8A4C0E2E643}" v="2" dt="2026-05-26T21:41:15.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88" autoAdjust="0"/>
    <p:restoredTop sz="94660"/>
  </p:normalViewPr>
  <p:slideViewPr>
    <p:cSldViewPr snapToGrid="0">
      <p:cViewPr varScale="1">
        <p:scale>
          <a:sx n="101" d="100"/>
          <a:sy n="101" d="100"/>
        </p:scale>
        <p:origin x="288"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gun Lawal" userId="2f4181d1b6c574d0" providerId="LiveId" clId="{487F8079-5E7B-4C3B-9EBA-AFFCCF2966DC}"/>
    <pc:docChg chg="undo redo custSel addSld delSld modSld sldOrd">
      <pc:chgData name="Segun Lawal" userId="2f4181d1b6c574d0" providerId="LiveId" clId="{487F8079-5E7B-4C3B-9EBA-AFFCCF2966DC}" dt="2026-05-28T00:50:32.967" v="457" actId="14100"/>
      <pc:docMkLst>
        <pc:docMk/>
      </pc:docMkLst>
      <pc:sldChg chg="addSp delSp modSp new mod setBg">
        <pc:chgData name="Segun Lawal" userId="2f4181d1b6c574d0" providerId="LiveId" clId="{487F8079-5E7B-4C3B-9EBA-AFFCCF2966DC}" dt="2026-05-26T21:41:48.222" v="281" actId="403"/>
        <pc:sldMkLst>
          <pc:docMk/>
          <pc:sldMk cId="2863241440" sldId="261"/>
        </pc:sldMkLst>
        <pc:spChg chg="add mod">
          <ac:chgData name="Segun Lawal" userId="2f4181d1b6c574d0" providerId="LiveId" clId="{487F8079-5E7B-4C3B-9EBA-AFFCCF2966DC}" dt="2026-05-26T21:41:48.222" v="281" actId="403"/>
          <ac:spMkLst>
            <pc:docMk/>
            <pc:sldMk cId="2863241440" sldId="261"/>
            <ac:spMk id="26" creationId="{8ECDAB08-3B7F-3C22-96AC-0CAB7247D61A}"/>
          </ac:spMkLst>
        </pc:spChg>
      </pc:sldChg>
      <pc:sldChg chg="addSp delSp modSp new mod ord">
        <pc:chgData name="Segun Lawal" userId="2f4181d1b6c574d0" providerId="LiveId" clId="{487F8079-5E7B-4C3B-9EBA-AFFCCF2966DC}" dt="2026-05-26T21:42:31.216" v="293" actId="20577"/>
        <pc:sldMkLst>
          <pc:docMk/>
          <pc:sldMk cId="2401343252" sldId="262"/>
        </pc:sldMkLst>
        <pc:spChg chg="add mod">
          <ac:chgData name="Segun Lawal" userId="2f4181d1b6c574d0" providerId="LiveId" clId="{487F8079-5E7B-4C3B-9EBA-AFFCCF2966DC}" dt="2026-05-26T21:42:31.216" v="293" actId="20577"/>
          <ac:spMkLst>
            <pc:docMk/>
            <pc:sldMk cId="2401343252" sldId="262"/>
            <ac:spMk id="3" creationId="{4101CF58-5B60-F021-44D0-1DF768161C0C}"/>
          </ac:spMkLst>
        </pc:spChg>
      </pc:sldChg>
      <pc:sldChg chg="modSp add del mod ord">
        <pc:chgData name="Segun Lawal" userId="2f4181d1b6c574d0" providerId="LiveId" clId="{487F8079-5E7B-4C3B-9EBA-AFFCCF2966DC}" dt="2026-05-28T00:47:58.824" v="345" actId="2696"/>
        <pc:sldMkLst>
          <pc:docMk/>
          <pc:sldMk cId="4083560494" sldId="263"/>
        </pc:sldMkLst>
        <pc:spChg chg="mod">
          <ac:chgData name="Segun Lawal" userId="2f4181d1b6c574d0" providerId="LiveId" clId="{487F8079-5E7B-4C3B-9EBA-AFFCCF2966DC}" dt="2026-05-28T00:45:58.218" v="332" actId="403"/>
          <ac:spMkLst>
            <pc:docMk/>
            <pc:sldMk cId="4083560494" sldId="263"/>
            <ac:spMk id="26" creationId="{99457E90-B494-8511-AA16-D8C8BD455157}"/>
          </ac:spMkLst>
        </pc:spChg>
      </pc:sldChg>
      <pc:sldChg chg="modSp new del mod">
        <pc:chgData name="Segun Lawal" userId="2f4181d1b6c574d0" providerId="LiveId" clId="{487F8079-5E7B-4C3B-9EBA-AFFCCF2966DC}" dt="2026-05-28T00:47:44.275" v="343" actId="680"/>
        <pc:sldMkLst>
          <pc:docMk/>
          <pc:sldMk cId="746927726" sldId="264"/>
        </pc:sldMkLst>
        <pc:spChg chg="mod">
          <ac:chgData name="Segun Lawal" userId="2f4181d1b6c574d0" providerId="LiveId" clId="{487F8079-5E7B-4C3B-9EBA-AFFCCF2966DC}" dt="2026-05-28T00:47:42.894" v="342" actId="20577"/>
          <ac:spMkLst>
            <pc:docMk/>
            <pc:sldMk cId="746927726" sldId="264"/>
            <ac:spMk id="2" creationId="{0AAC1036-8FCD-6E4D-72A6-BE37445FBED3}"/>
          </ac:spMkLst>
        </pc:spChg>
      </pc:sldChg>
      <pc:sldChg chg="modSp add mod">
        <pc:chgData name="Segun Lawal" userId="2f4181d1b6c574d0" providerId="LiveId" clId="{487F8079-5E7B-4C3B-9EBA-AFFCCF2966DC}" dt="2026-05-28T00:50:32.967" v="457" actId="14100"/>
        <pc:sldMkLst>
          <pc:docMk/>
          <pc:sldMk cId="3115993753" sldId="264"/>
        </pc:sldMkLst>
        <pc:spChg chg="mod">
          <ac:chgData name="Segun Lawal" userId="2f4181d1b6c574d0" providerId="LiveId" clId="{487F8079-5E7B-4C3B-9EBA-AFFCCF2966DC}" dt="2026-05-28T00:50:32.967" v="457" actId="14100"/>
          <ac:spMkLst>
            <pc:docMk/>
            <pc:sldMk cId="3115993753" sldId="264"/>
            <ac:spMk id="26" creationId="{0D82C02C-AE1C-62C3-8A52-E39CDEFBA21F}"/>
          </ac:spMkLst>
        </pc:spChg>
        <pc:picChg chg="mod">
          <ac:chgData name="Segun Lawal" userId="2f4181d1b6c574d0" providerId="LiveId" clId="{487F8079-5E7B-4C3B-9EBA-AFFCCF2966DC}" dt="2026-05-28T00:50:15.669" v="455" actId="14100"/>
          <ac:picMkLst>
            <pc:docMk/>
            <pc:sldMk cId="3115993753" sldId="264"/>
            <ac:picMk id="28" creationId="{5408CEE4-9A7E-812A-B810-2707852E513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AC2332-A407-4C0B-B016-2C4936C25754}"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AF57970D-78F6-4B3A-9168-F0EDB12FAA1D}">
      <dgm:prSet/>
      <dgm:spPr/>
      <dgm:t>
        <a:bodyPr/>
        <a:lstStyle/>
        <a:p>
          <a:r>
            <a:rPr lang="en-US" b="1"/>
            <a:t>Walmart Sales Overview (2010–2012)</a:t>
          </a:r>
          <a:endParaRPr lang="en-US"/>
        </a:p>
      </dgm:t>
    </dgm:pt>
    <dgm:pt modelId="{5527ED78-FEB8-4264-AC7C-4EB056A44EDD}" type="parTrans" cxnId="{61DBD37A-ED59-436C-88E9-B0AC0817947B}">
      <dgm:prSet/>
      <dgm:spPr/>
      <dgm:t>
        <a:bodyPr/>
        <a:lstStyle/>
        <a:p>
          <a:endParaRPr lang="en-US"/>
        </a:p>
      </dgm:t>
    </dgm:pt>
    <dgm:pt modelId="{283C10BC-6BF6-4AC8-A4D4-8BC80A6BE89E}" type="sibTrans" cxnId="{61DBD37A-ED59-436C-88E9-B0AC0817947B}">
      <dgm:prSet/>
      <dgm:spPr/>
      <dgm:t>
        <a:bodyPr/>
        <a:lstStyle/>
        <a:p>
          <a:endParaRPr lang="en-US"/>
        </a:p>
      </dgm:t>
    </dgm:pt>
    <dgm:pt modelId="{5C8F5C73-6AA5-488D-AA72-512FF96B9B8C}">
      <dgm:prSet/>
      <dgm:spPr/>
      <dgm:t>
        <a:bodyPr/>
        <a:lstStyle/>
        <a:p>
          <a:r>
            <a:rPr lang="en-US" b="1"/>
            <a:t>Key Insights</a:t>
          </a:r>
          <a:endParaRPr lang="en-US"/>
        </a:p>
      </dgm:t>
    </dgm:pt>
    <dgm:pt modelId="{F66E8D52-30C5-42C1-8234-FDFB897CC1E2}" type="parTrans" cxnId="{A4EB0AA3-4796-4F46-87BF-CD3AEB2C8CE5}">
      <dgm:prSet/>
      <dgm:spPr/>
      <dgm:t>
        <a:bodyPr/>
        <a:lstStyle/>
        <a:p>
          <a:endParaRPr lang="en-US"/>
        </a:p>
      </dgm:t>
    </dgm:pt>
    <dgm:pt modelId="{13A01F41-A37E-4C2E-8485-496931FF6FFD}" type="sibTrans" cxnId="{A4EB0AA3-4796-4F46-87BF-CD3AEB2C8CE5}">
      <dgm:prSet/>
      <dgm:spPr/>
      <dgm:t>
        <a:bodyPr/>
        <a:lstStyle/>
        <a:p>
          <a:endParaRPr lang="en-US"/>
        </a:p>
      </dgm:t>
    </dgm:pt>
    <dgm:pt modelId="{A950696E-F844-4F01-8E9B-8427ECC73D77}">
      <dgm:prSet/>
      <dgm:spPr/>
      <dgm:t>
        <a:bodyPr/>
        <a:lstStyle/>
        <a:p>
          <a:r>
            <a:rPr lang="en-US" b="1"/>
            <a:t>Total Sales reached $6.74B</a:t>
          </a:r>
          <a:r>
            <a:rPr lang="en-US"/>
            <a:t> across </a:t>
          </a:r>
          <a:r>
            <a:rPr lang="en-US" b="1"/>
            <a:t>45 stores</a:t>
          </a:r>
          <a:r>
            <a:rPr lang="en-US"/>
            <a:t> and </a:t>
          </a:r>
          <a:r>
            <a:rPr lang="en-US" b="1"/>
            <a:t>6,435 sales records</a:t>
          </a:r>
          <a:r>
            <a:rPr lang="en-US"/>
            <a:t>. </a:t>
          </a:r>
        </a:p>
      </dgm:t>
    </dgm:pt>
    <dgm:pt modelId="{C23982DA-F035-4EFF-838F-7576CBC57B2A}" type="parTrans" cxnId="{E7D4D1EF-E228-4686-A508-AF54A2105CC4}">
      <dgm:prSet/>
      <dgm:spPr/>
      <dgm:t>
        <a:bodyPr/>
        <a:lstStyle/>
        <a:p>
          <a:endParaRPr lang="en-US"/>
        </a:p>
      </dgm:t>
    </dgm:pt>
    <dgm:pt modelId="{906753C1-58DC-489F-93AB-91288A0FD9DA}" type="sibTrans" cxnId="{E7D4D1EF-E228-4686-A508-AF54A2105CC4}">
      <dgm:prSet/>
      <dgm:spPr/>
      <dgm:t>
        <a:bodyPr/>
        <a:lstStyle/>
        <a:p>
          <a:endParaRPr lang="en-US"/>
        </a:p>
      </dgm:t>
    </dgm:pt>
    <dgm:pt modelId="{1D14311C-3DC8-4B87-B36E-22279102D62E}">
      <dgm:prSet/>
      <dgm:spPr/>
      <dgm:t>
        <a:bodyPr/>
        <a:lstStyle/>
        <a:p>
          <a:r>
            <a:rPr lang="en-US" b="1"/>
            <a:t>2011 delivered the strongest performance</a:t>
          </a:r>
          <a:r>
            <a:rPr lang="en-US"/>
            <a:t> with </a:t>
          </a:r>
          <a:r>
            <a:rPr lang="en-US" b="1"/>
            <a:t>$2.45B</a:t>
          </a:r>
          <a:r>
            <a:rPr lang="en-US"/>
            <a:t>, outperforming 2010 and 2012. </a:t>
          </a:r>
        </a:p>
      </dgm:t>
    </dgm:pt>
    <dgm:pt modelId="{1981A442-EE99-44FB-B0B9-6C6A3DB09B8A}" type="parTrans" cxnId="{545D79A3-A92D-480B-97F5-7D92727394C0}">
      <dgm:prSet/>
      <dgm:spPr/>
      <dgm:t>
        <a:bodyPr/>
        <a:lstStyle/>
        <a:p>
          <a:endParaRPr lang="en-US"/>
        </a:p>
      </dgm:t>
    </dgm:pt>
    <dgm:pt modelId="{B8C9301A-10AD-4627-90E9-509B517675A9}" type="sibTrans" cxnId="{545D79A3-A92D-480B-97F5-7D92727394C0}">
      <dgm:prSet/>
      <dgm:spPr/>
      <dgm:t>
        <a:bodyPr/>
        <a:lstStyle/>
        <a:p>
          <a:endParaRPr lang="en-US"/>
        </a:p>
      </dgm:t>
    </dgm:pt>
    <dgm:pt modelId="{E9B852BB-B326-4EA3-900C-1F98B07AF65B}">
      <dgm:prSet/>
      <dgm:spPr/>
      <dgm:t>
        <a:bodyPr/>
        <a:lstStyle/>
        <a:p>
          <a:r>
            <a:rPr lang="en-US" b="1"/>
            <a:t>Average sales per record stood at $1.05M</a:t>
          </a:r>
          <a:r>
            <a:rPr lang="en-US"/>
            <a:t>, showing strong weekly revenue consistency. </a:t>
          </a:r>
        </a:p>
      </dgm:t>
    </dgm:pt>
    <dgm:pt modelId="{3F46D3F0-9807-406A-A4C9-6846F723D479}" type="parTrans" cxnId="{20F7CA1F-F670-4112-A31A-6D8503F100B4}">
      <dgm:prSet/>
      <dgm:spPr/>
      <dgm:t>
        <a:bodyPr/>
        <a:lstStyle/>
        <a:p>
          <a:endParaRPr lang="en-US"/>
        </a:p>
      </dgm:t>
    </dgm:pt>
    <dgm:pt modelId="{504B3F27-F7CD-4406-89A3-0097341C4322}" type="sibTrans" cxnId="{20F7CA1F-F670-4112-A31A-6D8503F100B4}">
      <dgm:prSet/>
      <dgm:spPr/>
      <dgm:t>
        <a:bodyPr/>
        <a:lstStyle/>
        <a:p>
          <a:endParaRPr lang="en-US"/>
        </a:p>
      </dgm:t>
    </dgm:pt>
    <dgm:pt modelId="{6A6FA4B5-8466-4F90-B239-6D63E57BCB6A}">
      <dgm:prSet/>
      <dgm:spPr/>
      <dgm:t>
        <a:bodyPr/>
        <a:lstStyle/>
        <a:p>
          <a:r>
            <a:rPr lang="en-US" b="1"/>
            <a:t>Peak sales hit $3.82M</a:t>
          </a:r>
          <a:r>
            <a:rPr lang="en-US"/>
            <a:t>, indicating strong seasonal / promotional demand spikes. </a:t>
          </a:r>
        </a:p>
      </dgm:t>
    </dgm:pt>
    <dgm:pt modelId="{E22EC364-003A-45A7-9AE7-A820A7A012F6}" type="parTrans" cxnId="{D2BEFF00-FA02-4673-AA3D-9606484948FB}">
      <dgm:prSet/>
      <dgm:spPr/>
      <dgm:t>
        <a:bodyPr/>
        <a:lstStyle/>
        <a:p>
          <a:endParaRPr lang="en-US"/>
        </a:p>
      </dgm:t>
    </dgm:pt>
    <dgm:pt modelId="{7CD6C774-C56B-4A2F-AA2C-07ED4FFC5EEA}" type="sibTrans" cxnId="{D2BEFF00-FA02-4673-AA3D-9606484948FB}">
      <dgm:prSet/>
      <dgm:spPr/>
      <dgm:t>
        <a:bodyPr/>
        <a:lstStyle/>
        <a:p>
          <a:endParaRPr lang="en-US"/>
        </a:p>
      </dgm:t>
    </dgm:pt>
    <dgm:pt modelId="{FCA47EFD-A83B-486B-A127-B8240C9BFD95}">
      <dgm:prSet/>
      <dgm:spPr/>
      <dgm:t>
        <a:bodyPr/>
        <a:lstStyle/>
        <a:p>
          <a:r>
            <a:rPr lang="en-US" b="1"/>
            <a:t>Store 20, 4, 14, 13 and 2</a:t>
          </a:r>
          <a:r>
            <a:rPr lang="en-US"/>
            <a:t> are the top revenue-generating stores. </a:t>
          </a:r>
        </a:p>
      </dgm:t>
    </dgm:pt>
    <dgm:pt modelId="{E69D32E4-F815-4780-AEBE-92F69212B3AE}" type="parTrans" cxnId="{BAB0F58B-67B4-43A3-BCBD-7C9B8EE6E049}">
      <dgm:prSet/>
      <dgm:spPr/>
      <dgm:t>
        <a:bodyPr/>
        <a:lstStyle/>
        <a:p>
          <a:endParaRPr lang="en-US"/>
        </a:p>
      </dgm:t>
    </dgm:pt>
    <dgm:pt modelId="{783CFC42-4BE6-466F-B1C8-159CD1CD97EF}" type="sibTrans" cxnId="{BAB0F58B-67B4-43A3-BCBD-7C9B8EE6E049}">
      <dgm:prSet/>
      <dgm:spPr/>
      <dgm:t>
        <a:bodyPr/>
        <a:lstStyle/>
        <a:p>
          <a:endParaRPr lang="en-US"/>
        </a:p>
      </dgm:t>
    </dgm:pt>
    <dgm:pt modelId="{5E7EF6C2-DA7F-44F7-AD46-D325B3946B26}">
      <dgm:prSet/>
      <dgm:spPr/>
      <dgm:t>
        <a:bodyPr/>
        <a:lstStyle/>
        <a:p>
          <a:r>
            <a:rPr lang="en-US"/>
            <a:t>Lowest performing stores include </a:t>
          </a:r>
          <a:r>
            <a:rPr lang="en-US" b="1"/>
            <a:t>33, 44, 5, 36 and 29</a:t>
          </a:r>
          <a:r>
            <a:rPr lang="en-US"/>
            <a:t>, requiring turnaround focus. </a:t>
          </a:r>
        </a:p>
      </dgm:t>
    </dgm:pt>
    <dgm:pt modelId="{6CB48CA5-AF52-4369-9806-740E9F7C4A12}" type="parTrans" cxnId="{5345265C-5FDA-4771-B0C6-D6D97A417455}">
      <dgm:prSet/>
      <dgm:spPr/>
      <dgm:t>
        <a:bodyPr/>
        <a:lstStyle/>
        <a:p>
          <a:endParaRPr lang="en-US"/>
        </a:p>
      </dgm:t>
    </dgm:pt>
    <dgm:pt modelId="{D515F4CF-F3FF-488D-83BF-3BC53E3F4922}" type="sibTrans" cxnId="{5345265C-5FDA-4771-B0C6-D6D97A417455}">
      <dgm:prSet/>
      <dgm:spPr/>
      <dgm:t>
        <a:bodyPr/>
        <a:lstStyle/>
        <a:p>
          <a:endParaRPr lang="en-US"/>
        </a:p>
      </dgm:t>
    </dgm:pt>
    <dgm:pt modelId="{AC766439-CE68-455E-B7B2-7F8216D6ED8E}">
      <dgm:prSet/>
      <dgm:spPr/>
      <dgm:t>
        <a:bodyPr/>
        <a:lstStyle/>
        <a:p>
          <a:r>
            <a:rPr lang="en-US"/>
            <a:t>Weekly sales trend shows </a:t>
          </a:r>
          <a:r>
            <a:rPr lang="en-US" b="1"/>
            <a:t>high volatility</a:t>
          </a:r>
          <a:r>
            <a:rPr lang="en-US"/>
            <a:t>, suggesting strong seasonality and promotion dependency. </a:t>
          </a:r>
        </a:p>
      </dgm:t>
    </dgm:pt>
    <dgm:pt modelId="{EC5E4B94-11CB-4312-AA26-68E0380D0DE6}" type="parTrans" cxnId="{BC1A6279-E6E7-4FE6-8270-120C19117C00}">
      <dgm:prSet/>
      <dgm:spPr/>
      <dgm:t>
        <a:bodyPr/>
        <a:lstStyle/>
        <a:p>
          <a:endParaRPr lang="en-US"/>
        </a:p>
      </dgm:t>
    </dgm:pt>
    <dgm:pt modelId="{5308726A-46DA-4052-B743-8FE38800F3A4}" type="sibTrans" cxnId="{BC1A6279-E6E7-4FE6-8270-120C19117C00}">
      <dgm:prSet/>
      <dgm:spPr/>
      <dgm:t>
        <a:bodyPr/>
        <a:lstStyle/>
        <a:p>
          <a:endParaRPr lang="en-US"/>
        </a:p>
      </dgm:t>
    </dgm:pt>
    <dgm:pt modelId="{273FEE19-DA28-4509-AB6B-7BEA7AA45140}" type="pres">
      <dgm:prSet presAssocID="{13AC2332-A407-4C0B-B016-2C4936C25754}" presName="Name0" presStyleCnt="0">
        <dgm:presLayoutVars>
          <dgm:dir/>
          <dgm:resizeHandles val="exact"/>
        </dgm:presLayoutVars>
      </dgm:prSet>
      <dgm:spPr/>
    </dgm:pt>
    <dgm:pt modelId="{8EB3C927-6AB9-45F0-84DB-33EC17CDDD6C}" type="pres">
      <dgm:prSet presAssocID="{AF57970D-78F6-4B3A-9168-F0EDB12FAA1D}" presName="node" presStyleLbl="node1" presStyleIdx="0" presStyleCnt="9">
        <dgm:presLayoutVars>
          <dgm:bulletEnabled val="1"/>
        </dgm:presLayoutVars>
      </dgm:prSet>
      <dgm:spPr/>
    </dgm:pt>
    <dgm:pt modelId="{C9CBBBC3-4208-4161-8E2A-0751091C86AA}" type="pres">
      <dgm:prSet presAssocID="{283C10BC-6BF6-4AC8-A4D4-8BC80A6BE89E}" presName="sibTrans" presStyleLbl="sibTrans1D1" presStyleIdx="0" presStyleCnt="8"/>
      <dgm:spPr/>
    </dgm:pt>
    <dgm:pt modelId="{E5B5D7FB-45DF-4053-B469-9241DE2BC458}" type="pres">
      <dgm:prSet presAssocID="{283C10BC-6BF6-4AC8-A4D4-8BC80A6BE89E}" presName="connectorText" presStyleLbl="sibTrans1D1" presStyleIdx="0" presStyleCnt="8"/>
      <dgm:spPr/>
    </dgm:pt>
    <dgm:pt modelId="{414FFDE8-2513-4C9D-BACD-A5D7A5B97669}" type="pres">
      <dgm:prSet presAssocID="{5C8F5C73-6AA5-488D-AA72-512FF96B9B8C}" presName="node" presStyleLbl="node1" presStyleIdx="1" presStyleCnt="9">
        <dgm:presLayoutVars>
          <dgm:bulletEnabled val="1"/>
        </dgm:presLayoutVars>
      </dgm:prSet>
      <dgm:spPr/>
    </dgm:pt>
    <dgm:pt modelId="{3D289268-81E6-4E80-920F-51E5CD6E23AD}" type="pres">
      <dgm:prSet presAssocID="{13A01F41-A37E-4C2E-8485-496931FF6FFD}" presName="sibTrans" presStyleLbl="sibTrans1D1" presStyleIdx="1" presStyleCnt="8"/>
      <dgm:spPr/>
    </dgm:pt>
    <dgm:pt modelId="{D16A3450-42B1-4B9B-B87E-42D327F83395}" type="pres">
      <dgm:prSet presAssocID="{13A01F41-A37E-4C2E-8485-496931FF6FFD}" presName="connectorText" presStyleLbl="sibTrans1D1" presStyleIdx="1" presStyleCnt="8"/>
      <dgm:spPr/>
    </dgm:pt>
    <dgm:pt modelId="{505FA563-6B60-414C-B34F-D0392153E939}" type="pres">
      <dgm:prSet presAssocID="{A950696E-F844-4F01-8E9B-8427ECC73D77}" presName="node" presStyleLbl="node1" presStyleIdx="2" presStyleCnt="9">
        <dgm:presLayoutVars>
          <dgm:bulletEnabled val="1"/>
        </dgm:presLayoutVars>
      </dgm:prSet>
      <dgm:spPr/>
    </dgm:pt>
    <dgm:pt modelId="{E836522B-8B2C-4A78-A62E-9F7160C1E33B}" type="pres">
      <dgm:prSet presAssocID="{906753C1-58DC-489F-93AB-91288A0FD9DA}" presName="sibTrans" presStyleLbl="sibTrans1D1" presStyleIdx="2" presStyleCnt="8"/>
      <dgm:spPr/>
    </dgm:pt>
    <dgm:pt modelId="{E21CE424-5623-4CB2-9569-CA0EADD88E53}" type="pres">
      <dgm:prSet presAssocID="{906753C1-58DC-489F-93AB-91288A0FD9DA}" presName="connectorText" presStyleLbl="sibTrans1D1" presStyleIdx="2" presStyleCnt="8"/>
      <dgm:spPr/>
    </dgm:pt>
    <dgm:pt modelId="{129300CF-B62B-4161-82EF-63B8FC35741D}" type="pres">
      <dgm:prSet presAssocID="{1D14311C-3DC8-4B87-B36E-22279102D62E}" presName="node" presStyleLbl="node1" presStyleIdx="3" presStyleCnt="9">
        <dgm:presLayoutVars>
          <dgm:bulletEnabled val="1"/>
        </dgm:presLayoutVars>
      </dgm:prSet>
      <dgm:spPr/>
    </dgm:pt>
    <dgm:pt modelId="{28D00626-DFFF-4B60-B091-D4161BCFFD0E}" type="pres">
      <dgm:prSet presAssocID="{B8C9301A-10AD-4627-90E9-509B517675A9}" presName="sibTrans" presStyleLbl="sibTrans1D1" presStyleIdx="3" presStyleCnt="8"/>
      <dgm:spPr/>
    </dgm:pt>
    <dgm:pt modelId="{3477FF4D-EB0B-40B6-84E1-1B39D4AEEB84}" type="pres">
      <dgm:prSet presAssocID="{B8C9301A-10AD-4627-90E9-509B517675A9}" presName="connectorText" presStyleLbl="sibTrans1D1" presStyleIdx="3" presStyleCnt="8"/>
      <dgm:spPr/>
    </dgm:pt>
    <dgm:pt modelId="{D9AE632E-3173-436B-9968-02C60027E67D}" type="pres">
      <dgm:prSet presAssocID="{E9B852BB-B326-4EA3-900C-1F98B07AF65B}" presName="node" presStyleLbl="node1" presStyleIdx="4" presStyleCnt="9">
        <dgm:presLayoutVars>
          <dgm:bulletEnabled val="1"/>
        </dgm:presLayoutVars>
      </dgm:prSet>
      <dgm:spPr/>
    </dgm:pt>
    <dgm:pt modelId="{B8E14FC6-78F8-4D5A-9CDA-4488BBE58755}" type="pres">
      <dgm:prSet presAssocID="{504B3F27-F7CD-4406-89A3-0097341C4322}" presName="sibTrans" presStyleLbl="sibTrans1D1" presStyleIdx="4" presStyleCnt="8"/>
      <dgm:spPr/>
    </dgm:pt>
    <dgm:pt modelId="{A7CFF690-0107-4E2B-B68D-3BB593289D9B}" type="pres">
      <dgm:prSet presAssocID="{504B3F27-F7CD-4406-89A3-0097341C4322}" presName="connectorText" presStyleLbl="sibTrans1D1" presStyleIdx="4" presStyleCnt="8"/>
      <dgm:spPr/>
    </dgm:pt>
    <dgm:pt modelId="{BB9A6097-AF7C-4D66-B0BE-7D0EF89EB94A}" type="pres">
      <dgm:prSet presAssocID="{6A6FA4B5-8466-4F90-B239-6D63E57BCB6A}" presName="node" presStyleLbl="node1" presStyleIdx="5" presStyleCnt="9">
        <dgm:presLayoutVars>
          <dgm:bulletEnabled val="1"/>
        </dgm:presLayoutVars>
      </dgm:prSet>
      <dgm:spPr/>
    </dgm:pt>
    <dgm:pt modelId="{E57C0C6F-F354-47DA-BC7B-EF12931EC401}" type="pres">
      <dgm:prSet presAssocID="{7CD6C774-C56B-4A2F-AA2C-07ED4FFC5EEA}" presName="sibTrans" presStyleLbl="sibTrans1D1" presStyleIdx="5" presStyleCnt="8"/>
      <dgm:spPr/>
    </dgm:pt>
    <dgm:pt modelId="{81D6700A-C148-4D23-8202-5E971A40F632}" type="pres">
      <dgm:prSet presAssocID="{7CD6C774-C56B-4A2F-AA2C-07ED4FFC5EEA}" presName="connectorText" presStyleLbl="sibTrans1D1" presStyleIdx="5" presStyleCnt="8"/>
      <dgm:spPr/>
    </dgm:pt>
    <dgm:pt modelId="{A3E544E3-A85E-4256-AFCA-A15BFE2493DB}" type="pres">
      <dgm:prSet presAssocID="{FCA47EFD-A83B-486B-A127-B8240C9BFD95}" presName="node" presStyleLbl="node1" presStyleIdx="6" presStyleCnt="9">
        <dgm:presLayoutVars>
          <dgm:bulletEnabled val="1"/>
        </dgm:presLayoutVars>
      </dgm:prSet>
      <dgm:spPr/>
    </dgm:pt>
    <dgm:pt modelId="{29F43788-8FD1-49A8-A06A-7634538EDFB8}" type="pres">
      <dgm:prSet presAssocID="{783CFC42-4BE6-466F-B1C8-159CD1CD97EF}" presName="sibTrans" presStyleLbl="sibTrans1D1" presStyleIdx="6" presStyleCnt="8"/>
      <dgm:spPr/>
    </dgm:pt>
    <dgm:pt modelId="{AEAD95BB-2D68-4B2D-A9E0-25121C45AFE2}" type="pres">
      <dgm:prSet presAssocID="{783CFC42-4BE6-466F-B1C8-159CD1CD97EF}" presName="connectorText" presStyleLbl="sibTrans1D1" presStyleIdx="6" presStyleCnt="8"/>
      <dgm:spPr/>
    </dgm:pt>
    <dgm:pt modelId="{A22539D8-59FE-466B-B4BF-25D68DC3FBE0}" type="pres">
      <dgm:prSet presAssocID="{5E7EF6C2-DA7F-44F7-AD46-D325B3946B26}" presName="node" presStyleLbl="node1" presStyleIdx="7" presStyleCnt="9">
        <dgm:presLayoutVars>
          <dgm:bulletEnabled val="1"/>
        </dgm:presLayoutVars>
      </dgm:prSet>
      <dgm:spPr/>
    </dgm:pt>
    <dgm:pt modelId="{D2AEED79-E140-4530-A709-603634F35188}" type="pres">
      <dgm:prSet presAssocID="{D515F4CF-F3FF-488D-83BF-3BC53E3F4922}" presName="sibTrans" presStyleLbl="sibTrans1D1" presStyleIdx="7" presStyleCnt="8"/>
      <dgm:spPr/>
    </dgm:pt>
    <dgm:pt modelId="{EA274390-A77E-43FB-80DF-5047FEC5993F}" type="pres">
      <dgm:prSet presAssocID="{D515F4CF-F3FF-488D-83BF-3BC53E3F4922}" presName="connectorText" presStyleLbl="sibTrans1D1" presStyleIdx="7" presStyleCnt="8"/>
      <dgm:spPr/>
    </dgm:pt>
    <dgm:pt modelId="{79C22103-33C8-4945-B434-47A4EEF818CD}" type="pres">
      <dgm:prSet presAssocID="{AC766439-CE68-455E-B7B2-7F8216D6ED8E}" presName="node" presStyleLbl="node1" presStyleIdx="8" presStyleCnt="9">
        <dgm:presLayoutVars>
          <dgm:bulletEnabled val="1"/>
        </dgm:presLayoutVars>
      </dgm:prSet>
      <dgm:spPr/>
    </dgm:pt>
  </dgm:ptLst>
  <dgm:cxnLst>
    <dgm:cxn modelId="{D2BEFF00-FA02-4673-AA3D-9606484948FB}" srcId="{13AC2332-A407-4C0B-B016-2C4936C25754}" destId="{6A6FA4B5-8466-4F90-B239-6D63E57BCB6A}" srcOrd="5" destOrd="0" parTransId="{E22EC364-003A-45A7-9AE7-A820A7A012F6}" sibTransId="{7CD6C774-C56B-4A2F-AA2C-07ED4FFC5EEA}"/>
    <dgm:cxn modelId="{A8B70501-6D9F-4BE5-9358-F48B00046CC4}" type="presOf" srcId="{AC766439-CE68-455E-B7B2-7F8216D6ED8E}" destId="{79C22103-33C8-4945-B434-47A4EEF818CD}" srcOrd="0" destOrd="0" presId="urn:microsoft.com/office/officeart/2016/7/layout/RepeatingBendingProcessNew"/>
    <dgm:cxn modelId="{E774830E-2626-4281-A78B-BCAC88296EFB}" type="presOf" srcId="{504B3F27-F7CD-4406-89A3-0097341C4322}" destId="{A7CFF690-0107-4E2B-B68D-3BB593289D9B}" srcOrd="1" destOrd="0" presId="urn:microsoft.com/office/officeart/2016/7/layout/RepeatingBendingProcessNew"/>
    <dgm:cxn modelId="{D53D7B1C-E035-4C49-8EB0-621A8A115516}" type="presOf" srcId="{A950696E-F844-4F01-8E9B-8427ECC73D77}" destId="{505FA563-6B60-414C-B34F-D0392153E939}" srcOrd="0" destOrd="0" presId="urn:microsoft.com/office/officeart/2016/7/layout/RepeatingBendingProcessNew"/>
    <dgm:cxn modelId="{F329C81F-D5E2-424E-837C-88ADC3A46FCF}" type="presOf" srcId="{6A6FA4B5-8466-4F90-B239-6D63E57BCB6A}" destId="{BB9A6097-AF7C-4D66-B0BE-7D0EF89EB94A}" srcOrd="0" destOrd="0" presId="urn:microsoft.com/office/officeart/2016/7/layout/RepeatingBendingProcessNew"/>
    <dgm:cxn modelId="{20F7CA1F-F670-4112-A31A-6D8503F100B4}" srcId="{13AC2332-A407-4C0B-B016-2C4936C25754}" destId="{E9B852BB-B326-4EA3-900C-1F98B07AF65B}" srcOrd="4" destOrd="0" parTransId="{3F46D3F0-9807-406A-A4C9-6846F723D479}" sibTransId="{504B3F27-F7CD-4406-89A3-0097341C4322}"/>
    <dgm:cxn modelId="{AAD30926-23D9-4C40-B0F4-1D41F8580DFE}" type="presOf" srcId="{13AC2332-A407-4C0B-B016-2C4936C25754}" destId="{273FEE19-DA28-4509-AB6B-7BEA7AA45140}" srcOrd="0" destOrd="0" presId="urn:microsoft.com/office/officeart/2016/7/layout/RepeatingBendingProcessNew"/>
    <dgm:cxn modelId="{020E5A2D-CC17-4694-A554-2DF15DCE9A5E}" type="presOf" srcId="{906753C1-58DC-489F-93AB-91288A0FD9DA}" destId="{E836522B-8B2C-4A78-A62E-9F7160C1E33B}" srcOrd="0" destOrd="0" presId="urn:microsoft.com/office/officeart/2016/7/layout/RepeatingBendingProcessNew"/>
    <dgm:cxn modelId="{DA649E2F-D4EF-4D3C-98D6-BFB790B4210A}" type="presOf" srcId="{13A01F41-A37E-4C2E-8485-496931FF6FFD}" destId="{D16A3450-42B1-4B9B-B87E-42D327F83395}" srcOrd="1" destOrd="0" presId="urn:microsoft.com/office/officeart/2016/7/layout/RepeatingBendingProcessNew"/>
    <dgm:cxn modelId="{68FA8F30-3F1B-4E44-B43D-FF703940F0EE}" type="presOf" srcId="{283C10BC-6BF6-4AC8-A4D4-8BC80A6BE89E}" destId="{E5B5D7FB-45DF-4053-B469-9241DE2BC458}" srcOrd="1" destOrd="0" presId="urn:microsoft.com/office/officeart/2016/7/layout/RepeatingBendingProcessNew"/>
    <dgm:cxn modelId="{DE51FC37-032F-431F-8B1D-5982AB23CDB4}" type="presOf" srcId="{783CFC42-4BE6-466F-B1C8-159CD1CD97EF}" destId="{29F43788-8FD1-49A8-A06A-7634538EDFB8}" srcOrd="0" destOrd="0" presId="urn:microsoft.com/office/officeart/2016/7/layout/RepeatingBendingProcessNew"/>
    <dgm:cxn modelId="{C1B11B38-0871-4D6D-9DB8-A623224430F4}" type="presOf" srcId="{5E7EF6C2-DA7F-44F7-AD46-D325B3946B26}" destId="{A22539D8-59FE-466B-B4BF-25D68DC3FBE0}" srcOrd="0" destOrd="0" presId="urn:microsoft.com/office/officeart/2016/7/layout/RepeatingBendingProcessNew"/>
    <dgm:cxn modelId="{CFB2233E-E2A5-42F8-9EF9-4680CE8CCF65}" type="presOf" srcId="{7CD6C774-C56B-4A2F-AA2C-07ED4FFC5EEA}" destId="{81D6700A-C148-4D23-8202-5E971A40F632}" srcOrd="1" destOrd="0" presId="urn:microsoft.com/office/officeart/2016/7/layout/RepeatingBendingProcessNew"/>
    <dgm:cxn modelId="{8F7C143F-81DF-42F0-97FD-E8B7F45763D6}" type="presOf" srcId="{D515F4CF-F3FF-488D-83BF-3BC53E3F4922}" destId="{EA274390-A77E-43FB-80DF-5047FEC5993F}" srcOrd="1" destOrd="0" presId="urn:microsoft.com/office/officeart/2016/7/layout/RepeatingBendingProcessNew"/>
    <dgm:cxn modelId="{5345265C-5FDA-4771-B0C6-D6D97A417455}" srcId="{13AC2332-A407-4C0B-B016-2C4936C25754}" destId="{5E7EF6C2-DA7F-44F7-AD46-D325B3946B26}" srcOrd="7" destOrd="0" parTransId="{6CB48CA5-AF52-4369-9806-740E9F7C4A12}" sibTransId="{D515F4CF-F3FF-488D-83BF-3BC53E3F4922}"/>
    <dgm:cxn modelId="{B5FA8946-C63B-4123-9D5B-F6E666DC54A9}" type="presOf" srcId="{504B3F27-F7CD-4406-89A3-0097341C4322}" destId="{B8E14FC6-78F8-4D5A-9CDA-4488BBE58755}" srcOrd="0" destOrd="0" presId="urn:microsoft.com/office/officeart/2016/7/layout/RepeatingBendingProcessNew"/>
    <dgm:cxn modelId="{E5096F68-CBD3-465B-A755-9E75E759E80D}" type="presOf" srcId="{5C8F5C73-6AA5-488D-AA72-512FF96B9B8C}" destId="{414FFDE8-2513-4C9D-BACD-A5D7A5B97669}" srcOrd="0" destOrd="0" presId="urn:microsoft.com/office/officeart/2016/7/layout/RepeatingBendingProcessNew"/>
    <dgm:cxn modelId="{F6E05971-ED48-4675-9B9D-66D520E8A4A8}" type="presOf" srcId="{B8C9301A-10AD-4627-90E9-509B517675A9}" destId="{28D00626-DFFF-4B60-B091-D4161BCFFD0E}" srcOrd="0" destOrd="0" presId="urn:microsoft.com/office/officeart/2016/7/layout/RepeatingBendingProcessNew"/>
    <dgm:cxn modelId="{4918BB74-B75B-4494-BB68-8373A43D4C83}" type="presOf" srcId="{AF57970D-78F6-4B3A-9168-F0EDB12FAA1D}" destId="{8EB3C927-6AB9-45F0-84DB-33EC17CDDD6C}" srcOrd="0" destOrd="0" presId="urn:microsoft.com/office/officeart/2016/7/layout/RepeatingBendingProcessNew"/>
    <dgm:cxn modelId="{BC1A6279-E6E7-4FE6-8270-120C19117C00}" srcId="{13AC2332-A407-4C0B-B016-2C4936C25754}" destId="{AC766439-CE68-455E-B7B2-7F8216D6ED8E}" srcOrd="8" destOrd="0" parTransId="{EC5E4B94-11CB-4312-AA26-68E0380D0DE6}" sibTransId="{5308726A-46DA-4052-B743-8FE38800F3A4}"/>
    <dgm:cxn modelId="{61DBD37A-ED59-436C-88E9-B0AC0817947B}" srcId="{13AC2332-A407-4C0B-B016-2C4936C25754}" destId="{AF57970D-78F6-4B3A-9168-F0EDB12FAA1D}" srcOrd="0" destOrd="0" parTransId="{5527ED78-FEB8-4264-AC7C-4EB056A44EDD}" sibTransId="{283C10BC-6BF6-4AC8-A4D4-8BC80A6BE89E}"/>
    <dgm:cxn modelId="{650C897F-2918-48CA-9110-08A9559135A9}" type="presOf" srcId="{D515F4CF-F3FF-488D-83BF-3BC53E3F4922}" destId="{D2AEED79-E140-4530-A709-603634F35188}" srcOrd="0" destOrd="0" presId="urn:microsoft.com/office/officeart/2016/7/layout/RepeatingBendingProcessNew"/>
    <dgm:cxn modelId="{D52EBE89-EEC1-423B-8311-D92BF6DBDD07}" type="presOf" srcId="{783CFC42-4BE6-466F-B1C8-159CD1CD97EF}" destId="{AEAD95BB-2D68-4B2D-A9E0-25121C45AFE2}" srcOrd="1" destOrd="0" presId="urn:microsoft.com/office/officeart/2016/7/layout/RepeatingBendingProcessNew"/>
    <dgm:cxn modelId="{5C97858B-DAA1-44DE-9FC4-29BA004D9F03}" type="presOf" srcId="{1D14311C-3DC8-4B87-B36E-22279102D62E}" destId="{129300CF-B62B-4161-82EF-63B8FC35741D}" srcOrd="0" destOrd="0" presId="urn:microsoft.com/office/officeart/2016/7/layout/RepeatingBendingProcessNew"/>
    <dgm:cxn modelId="{BAB0F58B-67B4-43A3-BCBD-7C9B8EE6E049}" srcId="{13AC2332-A407-4C0B-B016-2C4936C25754}" destId="{FCA47EFD-A83B-486B-A127-B8240C9BFD95}" srcOrd="6" destOrd="0" parTransId="{E69D32E4-F815-4780-AEBE-92F69212B3AE}" sibTransId="{783CFC42-4BE6-466F-B1C8-159CD1CD97EF}"/>
    <dgm:cxn modelId="{A4EB0AA3-4796-4F46-87BF-CD3AEB2C8CE5}" srcId="{13AC2332-A407-4C0B-B016-2C4936C25754}" destId="{5C8F5C73-6AA5-488D-AA72-512FF96B9B8C}" srcOrd="1" destOrd="0" parTransId="{F66E8D52-30C5-42C1-8234-FDFB897CC1E2}" sibTransId="{13A01F41-A37E-4C2E-8485-496931FF6FFD}"/>
    <dgm:cxn modelId="{545D79A3-A92D-480B-97F5-7D92727394C0}" srcId="{13AC2332-A407-4C0B-B016-2C4936C25754}" destId="{1D14311C-3DC8-4B87-B36E-22279102D62E}" srcOrd="3" destOrd="0" parTransId="{1981A442-EE99-44FB-B0B9-6C6A3DB09B8A}" sibTransId="{B8C9301A-10AD-4627-90E9-509B517675A9}"/>
    <dgm:cxn modelId="{39E213AA-5882-4C74-9A7D-8B8F43F93E45}" type="presOf" srcId="{906753C1-58DC-489F-93AB-91288A0FD9DA}" destId="{E21CE424-5623-4CB2-9569-CA0EADD88E53}" srcOrd="1" destOrd="0" presId="urn:microsoft.com/office/officeart/2016/7/layout/RepeatingBendingProcessNew"/>
    <dgm:cxn modelId="{D84346B8-94D7-4B5D-BDE8-807411F5E88C}" type="presOf" srcId="{7CD6C774-C56B-4A2F-AA2C-07ED4FFC5EEA}" destId="{E57C0C6F-F354-47DA-BC7B-EF12931EC401}" srcOrd="0" destOrd="0" presId="urn:microsoft.com/office/officeart/2016/7/layout/RepeatingBendingProcessNew"/>
    <dgm:cxn modelId="{029F1ACA-7C70-41EB-AE7E-B318AD40A127}" type="presOf" srcId="{283C10BC-6BF6-4AC8-A4D4-8BC80A6BE89E}" destId="{C9CBBBC3-4208-4161-8E2A-0751091C86AA}" srcOrd="0" destOrd="0" presId="urn:microsoft.com/office/officeart/2016/7/layout/RepeatingBendingProcessNew"/>
    <dgm:cxn modelId="{099207CB-7147-4E5D-B2BB-BFFFBF153DA5}" type="presOf" srcId="{13A01F41-A37E-4C2E-8485-496931FF6FFD}" destId="{3D289268-81E6-4E80-920F-51E5CD6E23AD}" srcOrd="0" destOrd="0" presId="urn:microsoft.com/office/officeart/2016/7/layout/RepeatingBendingProcessNew"/>
    <dgm:cxn modelId="{17386AD1-493C-4204-AE56-5623A389D781}" type="presOf" srcId="{B8C9301A-10AD-4627-90E9-509B517675A9}" destId="{3477FF4D-EB0B-40B6-84E1-1B39D4AEEB84}" srcOrd="1" destOrd="0" presId="urn:microsoft.com/office/officeart/2016/7/layout/RepeatingBendingProcessNew"/>
    <dgm:cxn modelId="{4F5191D7-7252-412C-A479-CFB5FD31F865}" type="presOf" srcId="{FCA47EFD-A83B-486B-A127-B8240C9BFD95}" destId="{A3E544E3-A85E-4256-AFCA-A15BFE2493DB}" srcOrd="0" destOrd="0" presId="urn:microsoft.com/office/officeart/2016/7/layout/RepeatingBendingProcessNew"/>
    <dgm:cxn modelId="{E7D4D1EF-E228-4686-A508-AF54A2105CC4}" srcId="{13AC2332-A407-4C0B-B016-2C4936C25754}" destId="{A950696E-F844-4F01-8E9B-8427ECC73D77}" srcOrd="2" destOrd="0" parTransId="{C23982DA-F035-4EFF-838F-7576CBC57B2A}" sibTransId="{906753C1-58DC-489F-93AB-91288A0FD9DA}"/>
    <dgm:cxn modelId="{BF507CFB-763E-436E-AB44-5D1B72AEA67E}" type="presOf" srcId="{E9B852BB-B326-4EA3-900C-1F98B07AF65B}" destId="{D9AE632E-3173-436B-9968-02C60027E67D}" srcOrd="0" destOrd="0" presId="urn:microsoft.com/office/officeart/2016/7/layout/RepeatingBendingProcessNew"/>
    <dgm:cxn modelId="{6341514A-88B6-400F-B5B6-FF51E76CC9E5}" type="presParOf" srcId="{273FEE19-DA28-4509-AB6B-7BEA7AA45140}" destId="{8EB3C927-6AB9-45F0-84DB-33EC17CDDD6C}" srcOrd="0" destOrd="0" presId="urn:microsoft.com/office/officeart/2016/7/layout/RepeatingBendingProcessNew"/>
    <dgm:cxn modelId="{1E4BFDF7-A20C-4FD3-B0DB-F912D019E779}" type="presParOf" srcId="{273FEE19-DA28-4509-AB6B-7BEA7AA45140}" destId="{C9CBBBC3-4208-4161-8E2A-0751091C86AA}" srcOrd="1" destOrd="0" presId="urn:microsoft.com/office/officeart/2016/7/layout/RepeatingBendingProcessNew"/>
    <dgm:cxn modelId="{3D0D027B-611D-4E4D-A472-913C2AE5A7FE}" type="presParOf" srcId="{C9CBBBC3-4208-4161-8E2A-0751091C86AA}" destId="{E5B5D7FB-45DF-4053-B469-9241DE2BC458}" srcOrd="0" destOrd="0" presId="urn:microsoft.com/office/officeart/2016/7/layout/RepeatingBendingProcessNew"/>
    <dgm:cxn modelId="{69205315-E957-4484-B55C-9CF545F89DCF}" type="presParOf" srcId="{273FEE19-DA28-4509-AB6B-7BEA7AA45140}" destId="{414FFDE8-2513-4C9D-BACD-A5D7A5B97669}" srcOrd="2" destOrd="0" presId="urn:microsoft.com/office/officeart/2016/7/layout/RepeatingBendingProcessNew"/>
    <dgm:cxn modelId="{4B712B04-1B69-497E-AD0F-DC765DD633C4}" type="presParOf" srcId="{273FEE19-DA28-4509-AB6B-7BEA7AA45140}" destId="{3D289268-81E6-4E80-920F-51E5CD6E23AD}" srcOrd="3" destOrd="0" presId="urn:microsoft.com/office/officeart/2016/7/layout/RepeatingBendingProcessNew"/>
    <dgm:cxn modelId="{E96C7668-0852-4862-872A-2B8E4FEFE3DC}" type="presParOf" srcId="{3D289268-81E6-4E80-920F-51E5CD6E23AD}" destId="{D16A3450-42B1-4B9B-B87E-42D327F83395}" srcOrd="0" destOrd="0" presId="urn:microsoft.com/office/officeart/2016/7/layout/RepeatingBendingProcessNew"/>
    <dgm:cxn modelId="{479CDE47-5A5F-4023-B1DD-398E9E11D823}" type="presParOf" srcId="{273FEE19-DA28-4509-AB6B-7BEA7AA45140}" destId="{505FA563-6B60-414C-B34F-D0392153E939}" srcOrd="4" destOrd="0" presId="urn:microsoft.com/office/officeart/2016/7/layout/RepeatingBendingProcessNew"/>
    <dgm:cxn modelId="{A6804860-56A8-4933-88F8-86CFBB3B2312}" type="presParOf" srcId="{273FEE19-DA28-4509-AB6B-7BEA7AA45140}" destId="{E836522B-8B2C-4A78-A62E-9F7160C1E33B}" srcOrd="5" destOrd="0" presId="urn:microsoft.com/office/officeart/2016/7/layout/RepeatingBendingProcessNew"/>
    <dgm:cxn modelId="{30D944AA-E533-4703-8397-A3DE5F463950}" type="presParOf" srcId="{E836522B-8B2C-4A78-A62E-9F7160C1E33B}" destId="{E21CE424-5623-4CB2-9569-CA0EADD88E53}" srcOrd="0" destOrd="0" presId="urn:microsoft.com/office/officeart/2016/7/layout/RepeatingBendingProcessNew"/>
    <dgm:cxn modelId="{00B3C6E1-3B3C-4258-8FD1-F36D6E6222C0}" type="presParOf" srcId="{273FEE19-DA28-4509-AB6B-7BEA7AA45140}" destId="{129300CF-B62B-4161-82EF-63B8FC35741D}" srcOrd="6" destOrd="0" presId="urn:microsoft.com/office/officeart/2016/7/layout/RepeatingBendingProcessNew"/>
    <dgm:cxn modelId="{ACA53A47-AC4E-482D-BA11-1160812C5F07}" type="presParOf" srcId="{273FEE19-DA28-4509-AB6B-7BEA7AA45140}" destId="{28D00626-DFFF-4B60-B091-D4161BCFFD0E}" srcOrd="7" destOrd="0" presId="urn:microsoft.com/office/officeart/2016/7/layout/RepeatingBendingProcessNew"/>
    <dgm:cxn modelId="{BC2525E2-0689-48BC-B66F-BE6D4C46EB5C}" type="presParOf" srcId="{28D00626-DFFF-4B60-B091-D4161BCFFD0E}" destId="{3477FF4D-EB0B-40B6-84E1-1B39D4AEEB84}" srcOrd="0" destOrd="0" presId="urn:microsoft.com/office/officeart/2016/7/layout/RepeatingBendingProcessNew"/>
    <dgm:cxn modelId="{D6FE7940-61DC-457D-9E40-1A21CD196039}" type="presParOf" srcId="{273FEE19-DA28-4509-AB6B-7BEA7AA45140}" destId="{D9AE632E-3173-436B-9968-02C60027E67D}" srcOrd="8" destOrd="0" presId="urn:microsoft.com/office/officeart/2016/7/layout/RepeatingBendingProcessNew"/>
    <dgm:cxn modelId="{9D2B626B-39A1-4516-B17C-CC323A6D6514}" type="presParOf" srcId="{273FEE19-DA28-4509-AB6B-7BEA7AA45140}" destId="{B8E14FC6-78F8-4D5A-9CDA-4488BBE58755}" srcOrd="9" destOrd="0" presId="urn:microsoft.com/office/officeart/2016/7/layout/RepeatingBendingProcessNew"/>
    <dgm:cxn modelId="{3FA13851-8A84-45DE-A1AB-29544605D6D4}" type="presParOf" srcId="{B8E14FC6-78F8-4D5A-9CDA-4488BBE58755}" destId="{A7CFF690-0107-4E2B-B68D-3BB593289D9B}" srcOrd="0" destOrd="0" presId="urn:microsoft.com/office/officeart/2016/7/layout/RepeatingBendingProcessNew"/>
    <dgm:cxn modelId="{82168A94-7600-4492-BCF0-0BA573F1CFBE}" type="presParOf" srcId="{273FEE19-DA28-4509-AB6B-7BEA7AA45140}" destId="{BB9A6097-AF7C-4D66-B0BE-7D0EF89EB94A}" srcOrd="10" destOrd="0" presId="urn:microsoft.com/office/officeart/2016/7/layout/RepeatingBendingProcessNew"/>
    <dgm:cxn modelId="{2EC79933-EC04-4E61-8B6D-0FBA87B3D079}" type="presParOf" srcId="{273FEE19-DA28-4509-AB6B-7BEA7AA45140}" destId="{E57C0C6F-F354-47DA-BC7B-EF12931EC401}" srcOrd="11" destOrd="0" presId="urn:microsoft.com/office/officeart/2016/7/layout/RepeatingBendingProcessNew"/>
    <dgm:cxn modelId="{DFA7ACBB-FA4D-495C-BE67-FB322844A5D4}" type="presParOf" srcId="{E57C0C6F-F354-47DA-BC7B-EF12931EC401}" destId="{81D6700A-C148-4D23-8202-5E971A40F632}" srcOrd="0" destOrd="0" presId="urn:microsoft.com/office/officeart/2016/7/layout/RepeatingBendingProcessNew"/>
    <dgm:cxn modelId="{9611CB78-07FD-4568-9C4A-36657244BECA}" type="presParOf" srcId="{273FEE19-DA28-4509-AB6B-7BEA7AA45140}" destId="{A3E544E3-A85E-4256-AFCA-A15BFE2493DB}" srcOrd="12" destOrd="0" presId="urn:microsoft.com/office/officeart/2016/7/layout/RepeatingBendingProcessNew"/>
    <dgm:cxn modelId="{F465DD9F-CFCB-4213-8D4A-C4ACFC77FDDC}" type="presParOf" srcId="{273FEE19-DA28-4509-AB6B-7BEA7AA45140}" destId="{29F43788-8FD1-49A8-A06A-7634538EDFB8}" srcOrd="13" destOrd="0" presId="urn:microsoft.com/office/officeart/2016/7/layout/RepeatingBendingProcessNew"/>
    <dgm:cxn modelId="{46A6D0A9-BCA0-476C-99B7-2974559C748B}" type="presParOf" srcId="{29F43788-8FD1-49A8-A06A-7634538EDFB8}" destId="{AEAD95BB-2D68-4B2D-A9E0-25121C45AFE2}" srcOrd="0" destOrd="0" presId="urn:microsoft.com/office/officeart/2016/7/layout/RepeatingBendingProcessNew"/>
    <dgm:cxn modelId="{AC9D9E82-BF07-4EF3-8B86-AA3FFDCF59A0}" type="presParOf" srcId="{273FEE19-DA28-4509-AB6B-7BEA7AA45140}" destId="{A22539D8-59FE-466B-B4BF-25D68DC3FBE0}" srcOrd="14" destOrd="0" presId="urn:microsoft.com/office/officeart/2016/7/layout/RepeatingBendingProcessNew"/>
    <dgm:cxn modelId="{44A80605-D59F-4B17-866E-0A1855E025DE}" type="presParOf" srcId="{273FEE19-DA28-4509-AB6B-7BEA7AA45140}" destId="{D2AEED79-E140-4530-A709-603634F35188}" srcOrd="15" destOrd="0" presId="urn:microsoft.com/office/officeart/2016/7/layout/RepeatingBendingProcessNew"/>
    <dgm:cxn modelId="{9476A3C0-634E-47FE-AB32-8B779F7F07C8}" type="presParOf" srcId="{D2AEED79-E140-4530-A709-603634F35188}" destId="{EA274390-A77E-43FB-80DF-5047FEC5993F}" srcOrd="0" destOrd="0" presId="urn:microsoft.com/office/officeart/2016/7/layout/RepeatingBendingProcessNew"/>
    <dgm:cxn modelId="{A270B9AF-5FF9-40F1-B7B0-9DB389F375A0}" type="presParOf" srcId="{273FEE19-DA28-4509-AB6B-7BEA7AA45140}" destId="{79C22103-33C8-4945-B434-47A4EEF818CD}"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CBBBC3-4208-4161-8E2A-0751091C86AA}">
      <dsp:nvSpPr>
        <dsp:cNvPr id="0" name=""/>
        <dsp:cNvSpPr/>
      </dsp:nvSpPr>
      <dsp:spPr>
        <a:xfrm>
          <a:off x="1964746" y="481437"/>
          <a:ext cx="373424" cy="91440"/>
        </a:xfrm>
        <a:custGeom>
          <a:avLst/>
          <a:gdLst/>
          <a:ahLst/>
          <a:cxnLst/>
          <a:rect l="0" t="0" r="0" b="0"/>
          <a:pathLst>
            <a:path>
              <a:moveTo>
                <a:pt x="0" y="45720"/>
              </a:moveTo>
              <a:lnTo>
                <a:pt x="37342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1357" y="525137"/>
        <a:ext cx="20201" cy="4040"/>
      </dsp:txXfrm>
    </dsp:sp>
    <dsp:sp modelId="{8EB3C927-6AB9-45F0-84DB-33EC17CDDD6C}">
      <dsp:nvSpPr>
        <dsp:cNvPr id="0" name=""/>
        <dsp:cNvSpPr/>
      </dsp:nvSpPr>
      <dsp:spPr>
        <a:xfrm>
          <a:off x="209918" y="169"/>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Walmart Sales Overview (2010–2012)</a:t>
          </a:r>
          <a:endParaRPr lang="en-US" sz="1200" kern="1200"/>
        </a:p>
      </dsp:txBody>
      <dsp:txXfrm>
        <a:off x="209918" y="169"/>
        <a:ext cx="1756628" cy="1053976"/>
      </dsp:txXfrm>
    </dsp:sp>
    <dsp:sp modelId="{3D289268-81E6-4E80-920F-51E5CD6E23AD}">
      <dsp:nvSpPr>
        <dsp:cNvPr id="0" name=""/>
        <dsp:cNvSpPr/>
      </dsp:nvSpPr>
      <dsp:spPr>
        <a:xfrm>
          <a:off x="4125398" y="481437"/>
          <a:ext cx="373424" cy="91440"/>
        </a:xfrm>
        <a:custGeom>
          <a:avLst/>
          <a:gdLst/>
          <a:ahLst/>
          <a:cxnLst/>
          <a:rect l="0" t="0" r="0" b="0"/>
          <a:pathLst>
            <a:path>
              <a:moveTo>
                <a:pt x="0" y="45720"/>
              </a:moveTo>
              <a:lnTo>
                <a:pt x="37342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2010" y="525137"/>
        <a:ext cx="20201" cy="4040"/>
      </dsp:txXfrm>
    </dsp:sp>
    <dsp:sp modelId="{414FFDE8-2513-4C9D-BACD-A5D7A5B97669}">
      <dsp:nvSpPr>
        <dsp:cNvPr id="0" name=""/>
        <dsp:cNvSpPr/>
      </dsp:nvSpPr>
      <dsp:spPr>
        <a:xfrm>
          <a:off x="2370570" y="169"/>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Key Insights</a:t>
          </a:r>
          <a:endParaRPr lang="en-US" sz="1200" kern="1200"/>
        </a:p>
      </dsp:txBody>
      <dsp:txXfrm>
        <a:off x="2370570" y="169"/>
        <a:ext cx="1756628" cy="1053976"/>
      </dsp:txXfrm>
    </dsp:sp>
    <dsp:sp modelId="{E836522B-8B2C-4A78-A62E-9F7160C1E33B}">
      <dsp:nvSpPr>
        <dsp:cNvPr id="0" name=""/>
        <dsp:cNvSpPr/>
      </dsp:nvSpPr>
      <dsp:spPr>
        <a:xfrm>
          <a:off x="6286051" y="481437"/>
          <a:ext cx="373424" cy="91440"/>
        </a:xfrm>
        <a:custGeom>
          <a:avLst/>
          <a:gdLst/>
          <a:ahLst/>
          <a:cxnLst/>
          <a:rect l="0" t="0" r="0" b="0"/>
          <a:pathLst>
            <a:path>
              <a:moveTo>
                <a:pt x="0" y="45720"/>
              </a:moveTo>
              <a:lnTo>
                <a:pt x="37342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62662" y="525137"/>
        <a:ext cx="20201" cy="4040"/>
      </dsp:txXfrm>
    </dsp:sp>
    <dsp:sp modelId="{505FA563-6B60-414C-B34F-D0392153E939}">
      <dsp:nvSpPr>
        <dsp:cNvPr id="0" name=""/>
        <dsp:cNvSpPr/>
      </dsp:nvSpPr>
      <dsp:spPr>
        <a:xfrm>
          <a:off x="4531223" y="169"/>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Total Sales reached $6.74B</a:t>
          </a:r>
          <a:r>
            <a:rPr lang="en-US" sz="1200" kern="1200"/>
            <a:t> across </a:t>
          </a:r>
          <a:r>
            <a:rPr lang="en-US" sz="1200" b="1" kern="1200"/>
            <a:t>45 stores</a:t>
          </a:r>
          <a:r>
            <a:rPr lang="en-US" sz="1200" kern="1200"/>
            <a:t> and </a:t>
          </a:r>
          <a:r>
            <a:rPr lang="en-US" sz="1200" b="1" kern="1200"/>
            <a:t>6,435 sales records</a:t>
          </a:r>
          <a:r>
            <a:rPr lang="en-US" sz="1200" kern="1200"/>
            <a:t>. </a:t>
          </a:r>
        </a:p>
      </dsp:txBody>
      <dsp:txXfrm>
        <a:off x="4531223" y="169"/>
        <a:ext cx="1756628" cy="1053976"/>
      </dsp:txXfrm>
    </dsp:sp>
    <dsp:sp modelId="{28D00626-DFFF-4B60-B091-D4161BCFFD0E}">
      <dsp:nvSpPr>
        <dsp:cNvPr id="0" name=""/>
        <dsp:cNvSpPr/>
      </dsp:nvSpPr>
      <dsp:spPr>
        <a:xfrm>
          <a:off x="1088232" y="1052346"/>
          <a:ext cx="6481957" cy="373424"/>
        </a:xfrm>
        <a:custGeom>
          <a:avLst/>
          <a:gdLst/>
          <a:ahLst/>
          <a:cxnLst/>
          <a:rect l="0" t="0" r="0" b="0"/>
          <a:pathLst>
            <a:path>
              <a:moveTo>
                <a:pt x="6481957" y="0"/>
              </a:moveTo>
              <a:lnTo>
                <a:pt x="6481957" y="203812"/>
              </a:lnTo>
              <a:lnTo>
                <a:pt x="0" y="203812"/>
              </a:lnTo>
              <a:lnTo>
                <a:pt x="0" y="373424"/>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66847" y="1237038"/>
        <a:ext cx="324726" cy="4040"/>
      </dsp:txXfrm>
    </dsp:sp>
    <dsp:sp modelId="{129300CF-B62B-4161-82EF-63B8FC35741D}">
      <dsp:nvSpPr>
        <dsp:cNvPr id="0" name=""/>
        <dsp:cNvSpPr/>
      </dsp:nvSpPr>
      <dsp:spPr>
        <a:xfrm>
          <a:off x="6691875" y="169"/>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2011 delivered the strongest performance</a:t>
          </a:r>
          <a:r>
            <a:rPr lang="en-US" sz="1200" kern="1200"/>
            <a:t> with </a:t>
          </a:r>
          <a:r>
            <a:rPr lang="en-US" sz="1200" b="1" kern="1200"/>
            <a:t>$2.45B</a:t>
          </a:r>
          <a:r>
            <a:rPr lang="en-US" sz="1200" kern="1200"/>
            <a:t>, outperforming 2010 and 2012. </a:t>
          </a:r>
        </a:p>
      </dsp:txBody>
      <dsp:txXfrm>
        <a:off x="6691875" y="169"/>
        <a:ext cx="1756628" cy="1053976"/>
      </dsp:txXfrm>
    </dsp:sp>
    <dsp:sp modelId="{B8E14FC6-78F8-4D5A-9CDA-4488BBE58755}">
      <dsp:nvSpPr>
        <dsp:cNvPr id="0" name=""/>
        <dsp:cNvSpPr/>
      </dsp:nvSpPr>
      <dsp:spPr>
        <a:xfrm>
          <a:off x="1964746" y="1939439"/>
          <a:ext cx="373424" cy="91440"/>
        </a:xfrm>
        <a:custGeom>
          <a:avLst/>
          <a:gdLst/>
          <a:ahLst/>
          <a:cxnLst/>
          <a:rect l="0" t="0" r="0" b="0"/>
          <a:pathLst>
            <a:path>
              <a:moveTo>
                <a:pt x="0" y="45720"/>
              </a:moveTo>
              <a:lnTo>
                <a:pt x="37342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1357" y="1983138"/>
        <a:ext cx="20201" cy="4040"/>
      </dsp:txXfrm>
    </dsp:sp>
    <dsp:sp modelId="{D9AE632E-3173-436B-9968-02C60027E67D}">
      <dsp:nvSpPr>
        <dsp:cNvPr id="0" name=""/>
        <dsp:cNvSpPr/>
      </dsp:nvSpPr>
      <dsp:spPr>
        <a:xfrm>
          <a:off x="209918" y="1458170"/>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Average sales per record stood at $1.05M</a:t>
          </a:r>
          <a:r>
            <a:rPr lang="en-US" sz="1200" kern="1200"/>
            <a:t>, showing strong weekly revenue consistency. </a:t>
          </a:r>
        </a:p>
      </dsp:txBody>
      <dsp:txXfrm>
        <a:off x="209918" y="1458170"/>
        <a:ext cx="1756628" cy="1053976"/>
      </dsp:txXfrm>
    </dsp:sp>
    <dsp:sp modelId="{E57C0C6F-F354-47DA-BC7B-EF12931EC401}">
      <dsp:nvSpPr>
        <dsp:cNvPr id="0" name=""/>
        <dsp:cNvSpPr/>
      </dsp:nvSpPr>
      <dsp:spPr>
        <a:xfrm>
          <a:off x="4125398" y="1939439"/>
          <a:ext cx="373424" cy="91440"/>
        </a:xfrm>
        <a:custGeom>
          <a:avLst/>
          <a:gdLst/>
          <a:ahLst/>
          <a:cxnLst/>
          <a:rect l="0" t="0" r="0" b="0"/>
          <a:pathLst>
            <a:path>
              <a:moveTo>
                <a:pt x="0" y="45720"/>
              </a:moveTo>
              <a:lnTo>
                <a:pt x="37342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2010" y="1983138"/>
        <a:ext cx="20201" cy="4040"/>
      </dsp:txXfrm>
    </dsp:sp>
    <dsp:sp modelId="{BB9A6097-AF7C-4D66-B0BE-7D0EF89EB94A}">
      <dsp:nvSpPr>
        <dsp:cNvPr id="0" name=""/>
        <dsp:cNvSpPr/>
      </dsp:nvSpPr>
      <dsp:spPr>
        <a:xfrm>
          <a:off x="2370570" y="1458170"/>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Peak sales hit $3.82M</a:t>
          </a:r>
          <a:r>
            <a:rPr lang="en-US" sz="1200" kern="1200"/>
            <a:t>, indicating strong seasonal / promotional demand spikes. </a:t>
          </a:r>
        </a:p>
      </dsp:txBody>
      <dsp:txXfrm>
        <a:off x="2370570" y="1458170"/>
        <a:ext cx="1756628" cy="1053976"/>
      </dsp:txXfrm>
    </dsp:sp>
    <dsp:sp modelId="{29F43788-8FD1-49A8-A06A-7634538EDFB8}">
      <dsp:nvSpPr>
        <dsp:cNvPr id="0" name=""/>
        <dsp:cNvSpPr/>
      </dsp:nvSpPr>
      <dsp:spPr>
        <a:xfrm>
          <a:off x="6286051" y="1939439"/>
          <a:ext cx="373424" cy="91440"/>
        </a:xfrm>
        <a:custGeom>
          <a:avLst/>
          <a:gdLst/>
          <a:ahLst/>
          <a:cxnLst/>
          <a:rect l="0" t="0" r="0" b="0"/>
          <a:pathLst>
            <a:path>
              <a:moveTo>
                <a:pt x="0" y="45720"/>
              </a:moveTo>
              <a:lnTo>
                <a:pt x="37342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62662" y="1983138"/>
        <a:ext cx="20201" cy="4040"/>
      </dsp:txXfrm>
    </dsp:sp>
    <dsp:sp modelId="{A3E544E3-A85E-4256-AFCA-A15BFE2493DB}">
      <dsp:nvSpPr>
        <dsp:cNvPr id="0" name=""/>
        <dsp:cNvSpPr/>
      </dsp:nvSpPr>
      <dsp:spPr>
        <a:xfrm>
          <a:off x="4531223" y="1458170"/>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b="1" kern="1200"/>
            <a:t>Store 20, 4, 14, 13 and 2</a:t>
          </a:r>
          <a:r>
            <a:rPr lang="en-US" sz="1200" kern="1200"/>
            <a:t> are the top revenue-generating stores. </a:t>
          </a:r>
        </a:p>
      </dsp:txBody>
      <dsp:txXfrm>
        <a:off x="4531223" y="1458170"/>
        <a:ext cx="1756628" cy="1053976"/>
      </dsp:txXfrm>
    </dsp:sp>
    <dsp:sp modelId="{D2AEED79-E140-4530-A709-603634F35188}">
      <dsp:nvSpPr>
        <dsp:cNvPr id="0" name=""/>
        <dsp:cNvSpPr/>
      </dsp:nvSpPr>
      <dsp:spPr>
        <a:xfrm>
          <a:off x="1088232" y="2510347"/>
          <a:ext cx="6481957" cy="373424"/>
        </a:xfrm>
        <a:custGeom>
          <a:avLst/>
          <a:gdLst/>
          <a:ahLst/>
          <a:cxnLst/>
          <a:rect l="0" t="0" r="0" b="0"/>
          <a:pathLst>
            <a:path>
              <a:moveTo>
                <a:pt x="6481957" y="0"/>
              </a:moveTo>
              <a:lnTo>
                <a:pt x="6481957" y="203812"/>
              </a:lnTo>
              <a:lnTo>
                <a:pt x="0" y="203812"/>
              </a:lnTo>
              <a:lnTo>
                <a:pt x="0" y="373424"/>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66847" y="2695039"/>
        <a:ext cx="324726" cy="4040"/>
      </dsp:txXfrm>
    </dsp:sp>
    <dsp:sp modelId="{A22539D8-59FE-466B-B4BF-25D68DC3FBE0}">
      <dsp:nvSpPr>
        <dsp:cNvPr id="0" name=""/>
        <dsp:cNvSpPr/>
      </dsp:nvSpPr>
      <dsp:spPr>
        <a:xfrm>
          <a:off x="6691875" y="1458170"/>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kern="1200"/>
            <a:t>Lowest performing stores include </a:t>
          </a:r>
          <a:r>
            <a:rPr lang="en-US" sz="1200" b="1" kern="1200"/>
            <a:t>33, 44, 5, 36 and 29</a:t>
          </a:r>
          <a:r>
            <a:rPr lang="en-US" sz="1200" kern="1200"/>
            <a:t>, requiring turnaround focus. </a:t>
          </a:r>
        </a:p>
      </dsp:txBody>
      <dsp:txXfrm>
        <a:off x="6691875" y="1458170"/>
        <a:ext cx="1756628" cy="1053976"/>
      </dsp:txXfrm>
    </dsp:sp>
    <dsp:sp modelId="{79C22103-33C8-4945-B434-47A4EEF818CD}">
      <dsp:nvSpPr>
        <dsp:cNvPr id="0" name=""/>
        <dsp:cNvSpPr/>
      </dsp:nvSpPr>
      <dsp:spPr>
        <a:xfrm>
          <a:off x="209918" y="2916171"/>
          <a:ext cx="1756628" cy="105397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76" tIns="90352" rIns="86076" bIns="90352" numCol="1" spcCol="1270" anchor="ctr" anchorCtr="0">
          <a:noAutofit/>
        </a:bodyPr>
        <a:lstStyle/>
        <a:p>
          <a:pPr marL="0" lvl="0" indent="0" algn="ctr" defTabSz="533400">
            <a:lnSpc>
              <a:spcPct val="90000"/>
            </a:lnSpc>
            <a:spcBef>
              <a:spcPct val="0"/>
            </a:spcBef>
            <a:spcAft>
              <a:spcPct val="35000"/>
            </a:spcAft>
            <a:buNone/>
          </a:pPr>
          <a:r>
            <a:rPr lang="en-US" sz="1200" kern="1200"/>
            <a:t>Weekly sales trend shows </a:t>
          </a:r>
          <a:r>
            <a:rPr lang="en-US" sz="1200" b="1" kern="1200"/>
            <a:t>high volatility</a:t>
          </a:r>
          <a:r>
            <a:rPr lang="en-US" sz="1200" kern="1200"/>
            <a:t>, suggesting strong seasonality and promotion dependency. </a:t>
          </a:r>
        </a:p>
      </dsp:txBody>
      <dsp:txXfrm>
        <a:off x="209918" y="2916171"/>
        <a:ext cx="1756628" cy="105397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E2FE91-5E5F-4478-8B61-894D247D5243}" type="datetimeFigureOut">
              <a:rPr lang="en-GB" smtClean="0"/>
              <a:t>28/05/2026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0B9A75-39C4-4565-8334-1C0B326CA7AF}" type="slidenum">
              <a:rPr lang="en-GB" smtClean="0"/>
              <a:t>‹#›</a:t>
            </a:fld>
            <a:endParaRPr lang="en-GB"/>
          </a:p>
        </p:txBody>
      </p:sp>
    </p:spTree>
    <p:extLst>
      <p:ext uri="{BB962C8B-B14F-4D97-AF65-F5344CB8AC3E}">
        <p14:creationId xmlns:p14="http://schemas.microsoft.com/office/powerpoint/2010/main" val="26411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0B9A75-39C4-4565-8334-1C0B326CA7AF}" type="slidenum">
              <a:rPr lang="en-GB" smtClean="0"/>
              <a:t>4</a:t>
            </a:fld>
            <a:endParaRPr lang="en-GB"/>
          </a:p>
        </p:txBody>
      </p:sp>
    </p:spTree>
    <p:extLst>
      <p:ext uri="{BB962C8B-B14F-4D97-AF65-F5344CB8AC3E}">
        <p14:creationId xmlns:p14="http://schemas.microsoft.com/office/powerpoint/2010/main" val="525271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DEA8C-764C-098D-672F-472FFACAE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7BE06-0D43-9255-9ED5-FC1AB9E3D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0B7C5-02CD-EFC1-F905-F124D3F1467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5859EF6-A071-D3D1-2C9C-393152A47FD0}"/>
              </a:ext>
            </a:extLst>
          </p:cNvPr>
          <p:cNvSpPr>
            <a:spLocks noGrp="1"/>
          </p:cNvSpPr>
          <p:nvPr>
            <p:ph type="sldNum" sz="quarter" idx="5"/>
          </p:nvPr>
        </p:nvSpPr>
        <p:spPr/>
        <p:txBody>
          <a:bodyPr/>
          <a:lstStyle/>
          <a:p>
            <a:fld id="{160B9A75-39C4-4565-8334-1C0B326CA7AF}" type="slidenum">
              <a:rPr lang="en-GB" smtClean="0"/>
              <a:t>5</a:t>
            </a:fld>
            <a:endParaRPr lang="en-GB"/>
          </a:p>
        </p:txBody>
      </p:sp>
    </p:spTree>
    <p:extLst>
      <p:ext uri="{BB962C8B-B14F-4D97-AF65-F5344CB8AC3E}">
        <p14:creationId xmlns:p14="http://schemas.microsoft.com/office/powerpoint/2010/main" val="1573666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60B9A75-39C4-4565-8334-1C0B326CA7AF}" type="slidenum">
              <a:rPr lang="en-GB" smtClean="0"/>
              <a:t>7</a:t>
            </a:fld>
            <a:endParaRPr lang="en-GB"/>
          </a:p>
        </p:txBody>
      </p:sp>
    </p:spTree>
    <p:extLst>
      <p:ext uri="{BB962C8B-B14F-4D97-AF65-F5344CB8AC3E}">
        <p14:creationId xmlns:p14="http://schemas.microsoft.com/office/powerpoint/2010/main" val="2575265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4BCC-D472-8CB0-C4DF-7D73B01048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E12554-2158-AF8E-0AE1-1809357B59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0C70D57-0D9B-02D7-AC07-2A81CC3DCA25}"/>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5" name="Footer Placeholder 4">
            <a:extLst>
              <a:ext uri="{FF2B5EF4-FFF2-40B4-BE49-F238E27FC236}">
                <a16:creationId xmlns:a16="http://schemas.microsoft.com/office/drawing/2014/main" id="{DF288444-77D6-0B2D-B259-5E4127C0F6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D2C708-6F48-CBE0-3DB2-7B1ECCFBA4EB}"/>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3098361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1412-90E7-5932-EA3F-59ABD125FA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577A143-8E59-3A15-F953-B5756BF9EB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72E6E1-6453-584F-E983-1A7253005D1E}"/>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5" name="Footer Placeholder 4">
            <a:extLst>
              <a:ext uri="{FF2B5EF4-FFF2-40B4-BE49-F238E27FC236}">
                <a16:creationId xmlns:a16="http://schemas.microsoft.com/office/drawing/2014/main" id="{90E29AB9-3B71-807D-DEC8-EF9A4AC544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ABB5BA-18C7-1323-33A8-C7DFBC428683}"/>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958457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8FE28-BE9E-A6A9-975D-520F0A0958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0F3C65A-F844-E5BD-89EA-9EA478CDE6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B2699D-BE67-931B-6C72-341D94E80A03}"/>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5" name="Footer Placeholder 4">
            <a:extLst>
              <a:ext uri="{FF2B5EF4-FFF2-40B4-BE49-F238E27FC236}">
                <a16:creationId xmlns:a16="http://schemas.microsoft.com/office/drawing/2014/main" id="{BBE9B4D6-6FEE-69C7-2389-CF2448037E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945074-FA55-0B7A-5C3F-E2F8B4B67EF1}"/>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815511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A52D9-14E7-A148-9C72-C3E931C492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288406-42B4-DD2C-63D6-FF5235A876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646E7B6-E66B-187E-30BD-56AEFAB089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F379692-D86A-CDE7-DBC9-DDFB698EABCD}"/>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6" name="Footer Placeholder 5">
            <a:extLst>
              <a:ext uri="{FF2B5EF4-FFF2-40B4-BE49-F238E27FC236}">
                <a16:creationId xmlns:a16="http://schemas.microsoft.com/office/drawing/2014/main" id="{0FE3EDD2-1E5E-A7C1-483E-7B1601E385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0006EB-7953-B390-A10C-5CD93EDF77DB}"/>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381200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25BE6-C007-C4B4-8C86-68174FDC34B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05C49F7-42EE-F1A1-CCD7-1C9D5074F9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6BB3BC-79EF-37C6-8630-49E830A54B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836A882-5089-2BF4-3A85-1D1EBD9B47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9F65AB-B20A-15AE-263A-FD84FB41B0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74CFC56-7982-071A-9994-1B1DCE25B5C7}"/>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8" name="Footer Placeholder 7">
            <a:extLst>
              <a:ext uri="{FF2B5EF4-FFF2-40B4-BE49-F238E27FC236}">
                <a16:creationId xmlns:a16="http://schemas.microsoft.com/office/drawing/2014/main" id="{1DD25DB2-C929-9CA4-9DE6-51E180AA0EF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FBEC8E7-9337-BC3F-9977-26E61CFDFF91}"/>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2168011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C4797-178B-3DF0-B3E6-364BCA6DF54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EC72946-9F24-6380-3D09-3A739AE7FB3A}"/>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4" name="Footer Placeholder 3">
            <a:extLst>
              <a:ext uri="{FF2B5EF4-FFF2-40B4-BE49-F238E27FC236}">
                <a16:creationId xmlns:a16="http://schemas.microsoft.com/office/drawing/2014/main" id="{44005EB9-D133-B694-97EC-0BD6E763C95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C1C1DD8-75E1-A56F-0EB5-098DCB3FD42C}"/>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3043082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3754F9-4D94-322C-E3ED-0C5A1A3ABB5C}"/>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3" name="Footer Placeholder 2">
            <a:extLst>
              <a:ext uri="{FF2B5EF4-FFF2-40B4-BE49-F238E27FC236}">
                <a16:creationId xmlns:a16="http://schemas.microsoft.com/office/drawing/2014/main" id="{81A79937-91D5-5D5F-47D9-211A515CD65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A9FE75-8753-194B-6531-C024D6444AE1}"/>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1985740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F93F-00C9-B708-1467-DE24EEF5A0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C7178E4-D633-A983-3ED9-E783432A9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35F3F5F-5997-17C2-19F6-F0E4C770B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4B1BB4-5242-7E42-F82A-269B42CB826C}"/>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6" name="Footer Placeholder 5">
            <a:extLst>
              <a:ext uri="{FF2B5EF4-FFF2-40B4-BE49-F238E27FC236}">
                <a16:creationId xmlns:a16="http://schemas.microsoft.com/office/drawing/2014/main" id="{82AE7BA0-70C9-3FF2-2EA8-4D2ED7BB353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4F6961-78F6-D3F6-C061-1FCF2C1622F9}"/>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159698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EFF3E-C021-3999-A235-2CB1762CA6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7789535-3CF3-9E70-B3E7-E01BD1D1B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EA449D-170B-96E5-D645-228DC244D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C08E0-A8FC-63A4-F76B-2CAEADBEC9FA}"/>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6" name="Footer Placeholder 5">
            <a:extLst>
              <a:ext uri="{FF2B5EF4-FFF2-40B4-BE49-F238E27FC236}">
                <a16:creationId xmlns:a16="http://schemas.microsoft.com/office/drawing/2014/main" id="{0138B9A8-CEBA-2ACE-6426-AFD6A1748D7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A77BC55-BA49-C08D-FA5F-6819A30CE14C}"/>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349395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4FF97-F2F1-29CB-FE7D-BD620E2ECC1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C79364-5B14-DF0C-80B6-1D68FDD6E3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B3D2AF-7AB3-9D70-72C5-8C74F40B405C}"/>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5" name="Footer Placeholder 4">
            <a:extLst>
              <a:ext uri="{FF2B5EF4-FFF2-40B4-BE49-F238E27FC236}">
                <a16:creationId xmlns:a16="http://schemas.microsoft.com/office/drawing/2014/main" id="{84A9B42F-3D41-34CD-CF9C-CDCAE27C16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4061B8-3F08-70E7-6601-ED8B4C0874D0}"/>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1131247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033AAC-D80B-F5F8-C3BB-D0FF378829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6457FE-01A1-D71C-1203-4D6648497A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E977B2-D6B5-1685-997D-C9B60B8249C8}"/>
              </a:ext>
            </a:extLst>
          </p:cNvPr>
          <p:cNvSpPr>
            <a:spLocks noGrp="1"/>
          </p:cNvSpPr>
          <p:nvPr>
            <p:ph type="dt" sz="half" idx="10"/>
          </p:nvPr>
        </p:nvSpPr>
        <p:spPr/>
        <p:txBody>
          <a:bodyPr/>
          <a:lstStyle/>
          <a:p>
            <a:fld id="{2479E249-F19F-4771-8F7E-E167018C85BD}" type="datetimeFigureOut">
              <a:rPr lang="en-GB" smtClean="0"/>
              <a:t>28/05/2026</a:t>
            </a:fld>
            <a:endParaRPr lang="en-GB"/>
          </a:p>
        </p:txBody>
      </p:sp>
      <p:sp>
        <p:nvSpPr>
          <p:cNvPr id="5" name="Footer Placeholder 4">
            <a:extLst>
              <a:ext uri="{FF2B5EF4-FFF2-40B4-BE49-F238E27FC236}">
                <a16:creationId xmlns:a16="http://schemas.microsoft.com/office/drawing/2014/main" id="{39ED79BB-32B1-03C1-788D-19F563F4C9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E45C45-20F5-69D3-9AF2-F308C16DA1E9}"/>
              </a:ext>
            </a:extLst>
          </p:cNvPr>
          <p:cNvSpPr>
            <a:spLocks noGrp="1"/>
          </p:cNvSpPr>
          <p:nvPr>
            <p:ph type="sldNum" sz="quarter" idx="12"/>
          </p:nvPr>
        </p:nvSpPr>
        <p:spPr/>
        <p:txBody>
          <a:bodyPr/>
          <a:lstStyle/>
          <a:p>
            <a:fld id="{F6529649-3221-4766-BF34-D0A1D8ACD9FF}" type="slidenum">
              <a:rPr lang="en-GB" smtClean="0"/>
              <a:t>‹#›</a:t>
            </a:fld>
            <a:endParaRPr lang="en-GB"/>
          </a:p>
        </p:txBody>
      </p:sp>
    </p:spTree>
    <p:extLst>
      <p:ext uri="{BB962C8B-B14F-4D97-AF65-F5344CB8AC3E}">
        <p14:creationId xmlns:p14="http://schemas.microsoft.com/office/powerpoint/2010/main" val="207887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2222B0-7FDD-AD25-42B0-95B3D1063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3F4539-C57A-3247-FD83-964FFC2006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4984499-EA8A-7176-BCD0-265BABED2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79E249-F19F-4771-8F7E-E167018C85BD}" type="datetimeFigureOut">
              <a:rPr lang="en-GB" smtClean="0"/>
              <a:t>28/05/2026</a:t>
            </a:fld>
            <a:endParaRPr lang="en-GB"/>
          </a:p>
        </p:txBody>
      </p:sp>
      <p:sp>
        <p:nvSpPr>
          <p:cNvPr id="5" name="Footer Placeholder 4">
            <a:extLst>
              <a:ext uri="{FF2B5EF4-FFF2-40B4-BE49-F238E27FC236}">
                <a16:creationId xmlns:a16="http://schemas.microsoft.com/office/drawing/2014/main" id="{F92B38B9-6B2E-0A39-E127-5DA281EB9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78A2BDA-70C2-A3B1-983E-1FE6C3838B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529649-3221-4766-BF34-D0A1D8ACD9FF}" type="slidenum">
              <a:rPr lang="en-GB" smtClean="0"/>
              <a:t>‹#›</a:t>
            </a:fld>
            <a:endParaRPr lang="en-GB"/>
          </a:p>
        </p:txBody>
      </p:sp>
    </p:spTree>
    <p:extLst>
      <p:ext uri="{BB962C8B-B14F-4D97-AF65-F5344CB8AC3E}">
        <p14:creationId xmlns:p14="http://schemas.microsoft.com/office/powerpoint/2010/main" val="2828653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935F-A4FA-2AE6-0263-0D5E582756F7}"/>
              </a:ext>
            </a:extLst>
          </p:cNvPr>
          <p:cNvSpPr>
            <a:spLocks noGrp="1"/>
          </p:cNvSpPr>
          <p:nvPr>
            <p:ph type="title"/>
          </p:nvPr>
        </p:nvSpPr>
        <p:spPr>
          <a:xfrm>
            <a:off x="611176" y="2263293"/>
            <a:ext cx="10515600" cy="1325563"/>
          </a:xfrm>
        </p:spPr>
        <p:style>
          <a:lnRef idx="2">
            <a:schemeClr val="accent1">
              <a:shade val="15000"/>
            </a:schemeClr>
          </a:lnRef>
          <a:fillRef idx="1">
            <a:schemeClr val="accent1"/>
          </a:fillRef>
          <a:effectRef idx="0">
            <a:schemeClr val="accent1"/>
          </a:effectRef>
          <a:fontRef idx="minor">
            <a:schemeClr val="lt1"/>
          </a:fontRef>
        </p:style>
        <p:txBody>
          <a:bodyPr/>
          <a:lstStyle/>
          <a:p>
            <a:r>
              <a:rPr lang="en-US" dirty="0"/>
              <a:t>Walmart  Stores Sales Analysis 2010 - 2012</a:t>
            </a:r>
            <a:endParaRPr lang="en-GB" dirty="0"/>
          </a:p>
        </p:txBody>
      </p:sp>
      <p:sp>
        <p:nvSpPr>
          <p:cNvPr id="3" name="Rectangle 2">
            <a:extLst>
              <a:ext uri="{FF2B5EF4-FFF2-40B4-BE49-F238E27FC236}">
                <a16:creationId xmlns:a16="http://schemas.microsoft.com/office/drawing/2014/main" id="{4101CF58-5B60-F021-44D0-1DF768161C0C}"/>
              </a:ext>
            </a:extLst>
          </p:cNvPr>
          <p:cNvSpPr/>
          <p:nvPr/>
        </p:nvSpPr>
        <p:spPr>
          <a:xfrm>
            <a:off x="7567448" y="5789098"/>
            <a:ext cx="3708050" cy="5108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Presented by</a:t>
            </a:r>
            <a:r>
              <a:rPr lang="en-US"/>
              <a:t>: Ahmed Lawal</a:t>
            </a:r>
            <a:endParaRPr lang="en-GB" dirty="0"/>
          </a:p>
        </p:txBody>
      </p:sp>
      <p:pic>
        <p:nvPicPr>
          <p:cNvPr id="4" name="Picture 3">
            <a:extLst>
              <a:ext uri="{FF2B5EF4-FFF2-40B4-BE49-F238E27FC236}">
                <a16:creationId xmlns:a16="http://schemas.microsoft.com/office/drawing/2014/main" id="{9ED4CE30-5791-BB1C-657D-CCD5C0C4A68C}"/>
              </a:ext>
            </a:extLst>
          </p:cNvPr>
          <p:cNvPicPr>
            <a:picLocks noChangeAspect="1"/>
          </p:cNvPicPr>
          <p:nvPr/>
        </p:nvPicPr>
        <p:blipFill>
          <a:blip r:embed="rId2"/>
          <a:stretch>
            <a:fillRect/>
          </a:stretch>
        </p:blipFill>
        <p:spPr>
          <a:xfrm>
            <a:off x="10989638" y="319263"/>
            <a:ext cx="908050" cy="477672"/>
          </a:xfrm>
          <a:prstGeom prst="rect">
            <a:avLst/>
          </a:prstGeom>
        </p:spPr>
      </p:pic>
    </p:spTree>
    <p:extLst>
      <p:ext uri="{BB962C8B-B14F-4D97-AF65-F5344CB8AC3E}">
        <p14:creationId xmlns:p14="http://schemas.microsoft.com/office/powerpoint/2010/main" val="240134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A771C-5714-E918-ADCB-01FBF6C18C4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24AD0FD-0136-2D84-7FDC-8A36540C5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F17B069-ABB4-D7AF-23F8-0DF6A95BF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id="{99457E90-B494-8511-AA16-D8C8BD455157}"/>
              </a:ext>
            </a:extLst>
          </p:cNvPr>
          <p:cNvSpPr>
            <a:spLocks noGrp="1"/>
          </p:cNvSpPr>
          <p:nvPr>
            <p:ph idx="1"/>
          </p:nvPr>
        </p:nvSpPr>
        <p:spPr>
          <a:xfrm>
            <a:off x="220979" y="699990"/>
            <a:ext cx="7951865" cy="5661140"/>
          </a:xfrm>
        </p:spPr>
        <p:txBody>
          <a:bodyPr anchor="ctr">
            <a:normAutofit/>
          </a:bodyPr>
          <a:lstStyle/>
          <a:p>
            <a:pPr>
              <a:buNone/>
            </a:pPr>
            <a:r>
              <a:rPr lang="en-US" sz="2600" b="1" dirty="0">
                <a:solidFill>
                  <a:schemeClr val="tx2"/>
                </a:solidFill>
              </a:rPr>
              <a:t>  </a:t>
            </a:r>
            <a:r>
              <a:rPr lang="en-US" sz="3200" b="1" dirty="0">
                <a:solidFill>
                  <a:schemeClr val="tx2"/>
                </a:solidFill>
              </a:rPr>
              <a:t>Historical Background</a:t>
            </a:r>
            <a:endParaRPr lang="en-US" sz="2600" b="1" dirty="0">
              <a:solidFill>
                <a:schemeClr val="tx2"/>
              </a:solidFill>
            </a:endParaRPr>
          </a:p>
          <a:p>
            <a:pPr algn="just">
              <a:buNone/>
            </a:pPr>
            <a:r>
              <a:rPr lang="en-US" sz="2600" b="1" dirty="0">
                <a:solidFill>
                  <a:schemeClr val="tx2"/>
                </a:solidFill>
              </a:rPr>
              <a:t>   </a:t>
            </a:r>
            <a:r>
              <a:rPr lang="en-US" sz="2600" dirty="0">
                <a:solidFill>
                  <a:schemeClr val="tx2"/>
                </a:solidFill>
              </a:rPr>
              <a:t>Walmart was founded in 1962 by Sam Walton with a simple but powerful vision: make everyday products affordable for ordinary people. </a:t>
            </a:r>
          </a:p>
          <a:p>
            <a:pPr algn="just">
              <a:buNone/>
            </a:pPr>
            <a:r>
              <a:rPr lang="en-US" sz="2600" dirty="0">
                <a:solidFill>
                  <a:schemeClr val="tx2"/>
                </a:solidFill>
              </a:rPr>
              <a:t>	From a single discount store in Rogers, Walmart grew into the world’s largest retailer by mastering low-cost operations, supply chain efficiency, and customer-focused pricing. </a:t>
            </a:r>
          </a:p>
          <a:p>
            <a:pPr algn="just">
              <a:buNone/>
            </a:pPr>
            <a:r>
              <a:rPr lang="en-US" sz="2600" dirty="0">
                <a:solidFill>
                  <a:schemeClr val="tx2"/>
                </a:solidFill>
              </a:rPr>
              <a:t>	Beyond retail dominance, the company has become a global, data-driven  enterprise that uses technology and analytics to forecast demand, manage inventory, and enhance customer experience  in an increasingly competitive market.</a:t>
            </a:r>
            <a:endParaRPr lang="en-GB" sz="1100" dirty="0">
              <a:solidFill>
                <a:schemeClr val="tx2"/>
              </a:solidFill>
            </a:endParaRPr>
          </a:p>
        </p:txBody>
      </p:sp>
      <p:grpSp>
        <p:nvGrpSpPr>
          <p:cNvPr id="27" name="Group 26">
            <a:extLst>
              <a:ext uri="{FF2B5EF4-FFF2-40B4-BE49-F238E27FC236}">
                <a16:creationId xmlns:a16="http://schemas.microsoft.com/office/drawing/2014/main" id="{32A27F67-D2F0-A8C2-F107-3EA353D1D8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FE983A00-A0BA-C129-DE6B-98BD56649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9EFF77B-50AB-4E93-F3DF-5FF641181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46F94AF-D700-5E6E-8571-9F07736F7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F42ED9B3-C2F1-E842-5A0E-8F0525828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Graphic 27" descr="Business Growth">
            <a:extLst>
              <a:ext uri="{FF2B5EF4-FFF2-40B4-BE49-F238E27FC236}">
                <a16:creationId xmlns:a16="http://schemas.microsoft.com/office/drawing/2014/main" id="{F0C7E217-F6E4-AB9D-757D-EF3DB78C8A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083560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98C0FB-401E-EECD-916C-FC7F7195931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FD2A80C-761E-7DFD-E4C8-3C5A23FF7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2DCB99F-AFE2-A35B-459C-257AB1C13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id="{0D82C02C-AE1C-62C3-8A52-E39CDEFBA21F}"/>
              </a:ext>
            </a:extLst>
          </p:cNvPr>
          <p:cNvSpPr>
            <a:spLocks noGrp="1"/>
          </p:cNvSpPr>
          <p:nvPr>
            <p:ph idx="1"/>
          </p:nvPr>
        </p:nvSpPr>
        <p:spPr>
          <a:xfrm>
            <a:off x="220979" y="359455"/>
            <a:ext cx="8340749" cy="6153316"/>
          </a:xfrm>
        </p:spPr>
        <p:txBody>
          <a:bodyPr anchor="ctr">
            <a:normAutofit lnSpcReduction="10000"/>
          </a:bodyPr>
          <a:lstStyle/>
          <a:p>
            <a:pPr>
              <a:buNone/>
            </a:pPr>
            <a:r>
              <a:rPr lang="en-US" sz="2600" b="1" dirty="0">
                <a:solidFill>
                  <a:schemeClr val="tx2"/>
                </a:solidFill>
              </a:rPr>
              <a:t>  </a:t>
            </a:r>
            <a:r>
              <a:rPr lang="en-US" sz="3200" b="1" dirty="0">
                <a:solidFill>
                  <a:schemeClr val="tx2"/>
                </a:solidFill>
              </a:rPr>
              <a:t>Project Overview</a:t>
            </a:r>
            <a:endParaRPr lang="en-US" sz="2600" b="1" dirty="0">
              <a:solidFill>
                <a:schemeClr val="tx2"/>
              </a:solidFill>
            </a:endParaRPr>
          </a:p>
          <a:p>
            <a:pPr algn="just">
              <a:buNone/>
            </a:pPr>
            <a:r>
              <a:rPr lang="en-US" sz="2600" b="1" dirty="0">
                <a:solidFill>
                  <a:schemeClr val="tx2"/>
                </a:solidFill>
              </a:rPr>
              <a:t>   </a:t>
            </a:r>
            <a:r>
              <a:rPr lang="en-US" sz="2600" dirty="0">
                <a:solidFill>
                  <a:schemeClr val="tx2"/>
                </a:solidFill>
              </a:rPr>
              <a:t>This project looks at Walmart’s historical weekly sales data to understand how the business has performed, spot key trends, and improve future sales forecasting.</a:t>
            </a:r>
          </a:p>
          <a:p>
            <a:pPr algn="just">
              <a:buNone/>
            </a:pPr>
            <a:r>
              <a:rPr lang="en-US" sz="2600" dirty="0">
                <a:solidFill>
                  <a:schemeClr val="tx2"/>
                </a:solidFill>
              </a:rPr>
              <a:t>	It focuses on a common retail challenge: making sure products are available when customers need them, without overstocking or wasting resources. When demand is misjudged, it can lead to empty shelves, excess inventory, lost sales, and unhappy customers.</a:t>
            </a:r>
          </a:p>
          <a:p>
            <a:pPr algn="just">
              <a:buNone/>
            </a:pPr>
            <a:r>
              <a:rPr lang="en-US" sz="2600" dirty="0">
                <a:solidFill>
                  <a:schemeClr val="tx2"/>
                </a:solidFill>
              </a:rPr>
              <a:t>	The analysis explores how factors like holidays, fuel prices, unemployment, and the consumer price index affect sales across different stores and departments. The goal is to generate useful insights that support better planning and decision-making and ultimately help build a more accurate system for predicting future demand.</a:t>
            </a:r>
            <a:endParaRPr lang="en-GB" sz="1100" dirty="0">
              <a:solidFill>
                <a:schemeClr val="tx2"/>
              </a:solidFill>
            </a:endParaRPr>
          </a:p>
        </p:txBody>
      </p:sp>
      <p:grpSp>
        <p:nvGrpSpPr>
          <p:cNvPr id="27" name="Group 26">
            <a:extLst>
              <a:ext uri="{FF2B5EF4-FFF2-40B4-BE49-F238E27FC236}">
                <a16:creationId xmlns:a16="http://schemas.microsoft.com/office/drawing/2014/main" id="{92D979EE-2E0D-112F-6841-087433C5E2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222B33D9-3A81-1084-0F95-E5DCA7065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DC40849-94EA-C6EA-DC83-C29DA1182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8A3E533-1388-4DE8-E1C7-5438068C7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D2E9994-D311-67FA-0FB4-914035FA8F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Graphic 27" descr="Business Growth">
            <a:extLst>
              <a:ext uri="{FF2B5EF4-FFF2-40B4-BE49-F238E27FC236}">
                <a16:creationId xmlns:a16="http://schemas.microsoft.com/office/drawing/2014/main" id="{5408CEE4-9A7E-812A-B810-2707852E51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708872" y="1629089"/>
            <a:ext cx="3335983" cy="3620021"/>
          </a:xfrm>
          <a:prstGeom prst="rect">
            <a:avLst/>
          </a:prstGeom>
        </p:spPr>
      </p:pic>
    </p:spTree>
    <p:extLst>
      <p:ext uri="{BB962C8B-B14F-4D97-AF65-F5344CB8AC3E}">
        <p14:creationId xmlns:p14="http://schemas.microsoft.com/office/powerpoint/2010/main" val="3115993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E69D4F-95FE-0572-5272-814C6027B1E8}"/>
              </a:ext>
            </a:extLst>
          </p:cNvPr>
          <p:cNvPicPr>
            <a:picLocks noChangeAspect="1"/>
          </p:cNvPicPr>
          <p:nvPr/>
        </p:nvPicPr>
        <p:blipFill>
          <a:blip r:embed="rId3"/>
          <a:stretch>
            <a:fillRect/>
          </a:stretch>
        </p:blipFill>
        <p:spPr>
          <a:xfrm>
            <a:off x="643467" y="643233"/>
            <a:ext cx="10905066" cy="5007672"/>
          </a:xfrm>
          <a:prstGeom prst="rect">
            <a:avLst/>
          </a:prstGeom>
        </p:spPr>
      </p:pic>
    </p:spTree>
    <p:extLst>
      <p:ext uri="{BB962C8B-B14F-4D97-AF65-F5344CB8AC3E}">
        <p14:creationId xmlns:p14="http://schemas.microsoft.com/office/powerpoint/2010/main" val="8820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78752-C31C-D13E-FF0D-8764C0221F7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F52B79-8758-B9A9-7879-73A66EC104DA}"/>
              </a:ext>
            </a:extLst>
          </p:cNvPr>
          <p:cNvPicPr>
            <a:picLocks noChangeAspect="1"/>
          </p:cNvPicPr>
          <p:nvPr/>
        </p:nvPicPr>
        <p:blipFill>
          <a:blip r:embed="rId3"/>
          <a:stretch>
            <a:fillRect/>
          </a:stretch>
        </p:blipFill>
        <p:spPr>
          <a:xfrm>
            <a:off x="75674" y="819807"/>
            <a:ext cx="11950263" cy="5442255"/>
          </a:xfrm>
          <a:prstGeom prst="rect">
            <a:avLst/>
          </a:prstGeom>
        </p:spPr>
      </p:pic>
    </p:spTree>
    <p:extLst>
      <p:ext uri="{BB962C8B-B14F-4D97-AF65-F5344CB8AC3E}">
        <p14:creationId xmlns:p14="http://schemas.microsoft.com/office/powerpoint/2010/main" val="3152671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443093-0FC2-3FF0-05CC-4115ED9B1D01}"/>
              </a:ext>
            </a:extLst>
          </p:cNvPr>
          <p:cNvPicPr>
            <a:picLocks noChangeAspect="1"/>
          </p:cNvPicPr>
          <p:nvPr/>
        </p:nvPicPr>
        <p:blipFill>
          <a:blip r:embed="rId2"/>
          <a:stretch>
            <a:fillRect/>
          </a:stretch>
        </p:blipFill>
        <p:spPr>
          <a:xfrm>
            <a:off x="301327" y="638031"/>
            <a:ext cx="11589346" cy="5581937"/>
          </a:xfrm>
          <a:prstGeom prst="rect">
            <a:avLst/>
          </a:prstGeom>
        </p:spPr>
      </p:pic>
    </p:spTree>
    <p:extLst>
      <p:ext uri="{BB962C8B-B14F-4D97-AF65-F5344CB8AC3E}">
        <p14:creationId xmlns:p14="http://schemas.microsoft.com/office/powerpoint/2010/main" val="2692014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012378-67B0-6E84-5D8B-253FCB8183A3}"/>
              </a:ext>
            </a:extLst>
          </p:cNvPr>
          <p:cNvPicPr>
            <a:picLocks noChangeAspect="1"/>
          </p:cNvPicPr>
          <p:nvPr/>
        </p:nvPicPr>
        <p:blipFill>
          <a:blip r:embed="rId3"/>
          <a:stretch>
            <a:fillRect/>
          </a:stretch>
        </p:blipFill>
        <p:spPr>
          <a:xfrm>
            <a:off x="643467" y="1070780"/>
            <a:ext cx="10905066" cy="4716438"/>
          </a:xfrm>
          <a:prstGeom prst="rect">
            <a:avLst/>
          </a:prstGeom>
        </p:spPr>
      </p:pic>
      <p:sp>
        <p:nvSpPr>
          <p:cNvPr id="2" name="TextBox 1">
            <a:extLst>
              <a:ext uri="{FF2B5EF4-FFF2-40B4-BE49-F238E27FC236}">
                <a16:creationId xmlns:a16="http://schemas.microsoft.com/office/drawing/2014/main" id="{DF7370A0-5458-421E-F165-650270DA3C66}"/>
              </a:ext>
            </a:extLst>
          </p:cNvPr>
          <p:cNvSpPr txBox="1"/>
          <p:nvPr/>
        </p:nvSpPr>
        <p:spPr>
          <a:xfrm>
            <a:off x="2156723" y="466659"/>
            <a:ext cx="7586367" cy="400110"/>
          </a:xfrm>
          <a:prstGeom prst="rect">
            <a:avLst/>
          </a:prstGeom>
          <a:solidFill>
            <a:schemeClr val="accent1"/>
          </a:solidFill>
        </p:spPr>
        <p:txBody>
          <a:bodyPr wrap="square" rtlCol="0">
            <a:spAutoFit/>
          </a:bodyPr>
          <a:lstStyle/>
          <a:p>
            <a:pPr algn="ctr"/>
            <a:r>
              <a:rPr lang="en-US" sz="2000" b="1" dirty="0">
                <a:solidFill>
                  <a:schemeClr val="bg1"/>
                </a:solidFill>
              </a:rPr>
              <a:t>Correlation of Weekly Sales to other Environmental Factors</a:t>
            </a:r>
            <a:endParaRPr lang="en-GB" sz="2000" b="1" dirty="0">
              <a:solidFill>
                <a:schemeClr val="bg1"/>
              </a:solidFill>
            </a:endParaRPr>
          </a:p>
        </p:txBody>
      </p:sp>
    </p:spTree>
    <p:extLst>
      <p:ext uri="{BB962C8B-B14F-4D97-AF65-F5344CB8AC3E}">
        <p14:creationId xmlns:p14="http://schemas.microsoft.com/office/powerpoint/2010/main" val="265990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extBox 4">
            <a:extLst>
              <a:ext uri="{FF2B5EF4-FFF2-40B4-BE49-F238E27FC236}">
                <a16:creationId xmlns:a16="http://schemas.microsoft.com/office/drawing/2014/main" id="{BC3CADB7-4466-2265-20C4-31499E1365BD}"/>
              </a:ext>
            </a:extLst>
          </p:cNvPr>
          <p:cNvGraphicFramePr/>
          <p:nvPr>
            <p:extLst>
              <p:ext uri="{D42A27DB-BD31-4B8C-83A1-F6EECF244321}">
                <p14:modId xmlns:p14="http://schemas.microsoft.com/office/powerpoint/2010/main" val="717281382"/>
              </p:ext>
            </p:extLst>
          </p:nvPr>
        </p:nvGraphicFramePr>
        <p:xfrm>
          <a:off x="1236017" y="1336992"/>
          <a:ext cx="8658422" cy="3970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36AAABFB-F2BF-335E-C092-0D65DA31E41F}"/>
              </a:ext>
            </a:extLst>
          </p:cNvPr>
          <p:cNvSpPr/>
          <p:nvPr/>
        </p:nvSpPr>
        <p:spPr>
          <a:xfrm>
            <a:off x="2081048" y="359454"/>
            <a:ext cx="6495393" cy="6117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p>
          <a:p>
            <a:pPr algn="ctr"/>
            <a:r>
              <a:rPr lang="en-US" sz="2000" b="1" dirty="0"/>
              <a:t>Walmart Sales Overview (2010–2012)</a:t>
            </a:r>
          </a:p>
          <a:p>
            <a:pPr algn="ctr"/>
            <a:endParaRPr lang="en-GB" dirty="0"/>
          </a:p>
        </p:txBody>
      </p:sp>
    </p:spTree>
    <p:extLst>
      <p:ext uri="{BB962C8B-B14F-4D97-AF65-F5344CB8AC3E}">
        <p14:creationId xmlns:p14="http://schemas.microsoft.com/office/powerpoint/2010/main" val="1785992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id="{8ECDAB08-3B7F-3C22-96AC-0CAB7247D61A}"/>
              </a:ext>
            </a:extLst>
          </p:cNvPr>
          <p:cNvSpPr>
            <a:spLocks noGrp="1"/>
          </p:cNvSpPr>
          <p:nvPr>
            <p:ph idx="1"/>
          </p:nvPr>
        </p:nvSpPr>
        <p:spPr>
          <a:xfrm>
            <a:off x="220980" y="699990"/>
            <a:ext cx="5561270" cy="5661140"/>
          </a:xfrm>
        </p:spPr>
        <p:txBody>
          <a:bodyPr anchor="ctr">
            <a:normAutofit fontScale="92500" lnSpcReduction="20000"/>
          </a:bodyPr>
          <a:lstStyle/>
          <a:p>
            <a:pPr>
              <a:buNone/>
            </a:pPr>
            <a:r>
              <a:rPr lang="en-US" sz="2600" b="1" dirty="0">
                <a:solidFill>
                  <a:schemeClr val="tx2"/>
                </a:solidFill>
              </a:rPr>
              <a:t>Recommendations</a:t>
            </a:r>
          </a:p>
          <a:p>
            <a:pPr>
              <a:buNone/>
            </a:pPr>
            <a:r>
              <a:rPr lang="en-US" sz="1900" b="1" dirty="0">
                <a:solidFill>
                  <a:schemeClr val="tx2"/>
                </a:solidFill>
              </a:rPr>
              <a:t>Revenue Growth</a:t>
            </a:r>
          </a:p>
          <a:p>
            <a:r>
              <a:rPr lang="en-US" sz="1800" dirty="0">
                <a:solidFill>
                  <a:schemeClr val="tx2"/>
                </a:solidFill>
              </a:rPr>
              <a:t>Replicate best practices from </a:t>
            </a:r>
            <a:r>
              <a:rPr lang="en-US" sz="1800" b="1" dirty="0">
                <a:solidFill>
                  <a:schemeClr val="tx2"/>
                </a:solidFill>
              </a:rPr>
              <a:t>Top 5 stores</a:t>
            </a:r>
            <a:r>
              <a:rPr lang="en-US" sz="1800" dirty="0">
                <a:solidFill>
                  <a:schemeClr val="tx2"/>
                </a:solidFill>
              </a:rPr>
              <a:t> into mid-performing stores. </a:t>
            </a:r>
          </a:p>
          <a:p>
            <a:r>
              <a:rPr lang="en-US" sz="1800" dirty="0">
                <a:solidFill>
                  <a:schemeClr val="tx2"/>
                </a:solidFill>
              </a:rPr>
              <a:t>Increase investment, assortment, and staffing in high-performing stores. </a:t>
            </a:r>
          </a:p>
          <a:p>
            <a:pPr>
              <a:buNone/>
            </a:pPr>
            <a:r>
              <a:rPr lang="en-US" sz="1900" b="1" dirty="0">
                <a:solidFill>
                  <a:schemeClr val="tx2"/>
                </a:solidFill>
              </a:rPr>
              <a:t>Underperforming Stores</a:t>
            </a:r>
          </a:p>
          <a:p>
            <a:r>
              <a:rPr lang="en-US" sz="1800" dirty="0">
                <a:solidFill>
                  <a:schemeClr val="tx2"/>
                </a:solidFill>
              </a:rPr>
              <a:t>Conduct root-cause review on bottom stores: </a:t>
            </a:r>
          </a:p>
          <a:p>
            <a:pPr marL="742950" lvl="1" indent="-285750"/>
            <a:r>
              <a:rPr lang="en-US" sz="1800" dirty="0">
                <a:solidFill>
                  <a:schemeClr val="tx2"/>
                </a:solidFill>
              </a:rPr>
              <a:t>Foot traffic </a:t>
            </a:r>
          </a:p>
          <a:p>
            <a:pPr marL="742950" lvl="1" indent="-285750"/>
            <a:r>
              <a:rPr lang="en-US" sz="1800" dirty="0">
                <a:solidFill>
                  <a:schemeClr val="tx2"/>
                </a:solidFill>
              </a:rPr>
              <a:t>Pricing </a:t>
            </a:r>
          </a:p>
          <a:p>
            <a:pPr marL="742950" lvl="1" indent="-285750"/>
            <a:r>
              <a:rPr lang="en-US" sz="1800" dirty="0">
                <a:solidFill>
                  <a:schemeClr val="tx2"/>
                </a:solidFill>
              </a:rPr>
              <a:t>Product mix </a:t>
            </a:r>
          </a:p>
          <a:p>
            <a:pPr marL="742950" lvl="1" indent="-285750"/>
            <a:r>
              <a:rPr lang="en-US" sz="1800" dirty="0">
                <a:solidFill>
                  <a:schemeClr val="tx2"/>
                </a:solidFill>
              </a:rPr>
              <a:t>Local competition </a:t>
            </a:r>
          </a:p>
          <a:p>
            <a:pPr>
              <a:buNone/>
            </a:pPr>
            <a:r>
              <a:rPr lang="en-US" sz="1900" b="1" dirty="0">
                <a:solidFill>
                  <a:schemeClr val="tx2"/>
                </a:solidFill>
              </a:rPr>
              <a:t>Seasonal Planning</a:t>
            </a:r>
          </a:p>
          <a:p>
            <a:r>
              <a:rPr lang="en-US" sz="1800" dirty="0">
                <a:solidFill>
                  <a:schemeClr val="tx2"/>
                </a:solidFill>
              </a:rPr>
              <a:t>Prepare inventory and workforce ahead of peak demand periods. </a:t>
            </a:r>
          </a:p>
          <a:p>
            <a:r>
              <a:rPr lang="en-US" sz="1800" dirty="0">
                <a:solidFill>
                  <a:schemeClr val="tx2"/>
                </a:solidFill>
              </a:rPr>
              <a:t>Improve promotion calendar based on high-sales weeks.</a:t>
            </a:r>
          </a:p>
          <a:p>
            <a:r>
              <a:rPr lang="en-US" sz="1800" dirty="0">
                <a:solidFill>
                  <a:schemeClr val="tx2"/>
                </a:solidFill>
              </a:rPr>
              <a:t>Plan cashflow around predictable low months - Jan/Nov dips</a:t>
            </a:r>
          </a:p>
          <a:p>
            <a:r>
              <a:rPr lang="en-US" sz="1800" dirty="0">
                <a:solidFill>
                  <a:schemeClr val="tx2"/>
                </a:solidFill>
              </a:rPr>
              <a:t> Shift from reactive reporting → proactive demand planning</a:t>
            </a:r>
          </a:p>
          <a:p>
            <a:pPr marL="0" indent="0">
              <a:buNone/>
            </a:pPr>
            <a:endParaRPr lang="en-GB" sz="1100" dirty="0">
              <a:solidFill>
                <a:schemeClr val="tx2"/>
              </a:solidFill>
            </a:endParaRPr>
          </a:p>
        </p:txBody>
      </p:sp>
      <p:grpSp>
        <p:nvGrpSpPr>
          <p:cNvPr id="27" name="Group 26">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Graphic 27" descr="Business Growth">
            <a:extLst>
              <a:ext uri="{FF2B5EF4-FFF2-40B4-BE49-F238E27FC236}">
                <a16:creationId xmlns:a16="http://schemas.microsoft.com/office/drawing/2014/main" id="{1D95CFCB-1F2D-4F6C-322E-06A3E5335A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863241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445</Words>
  <Application>Microsoft Office PowerPoint</Application>
  <PresentationFormat>Widescreen</PresentationFormat>
  <Paragraphs>40</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Walmart  Stores Sales Analysis 2010 - 2012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Segun Lawal</dc:creator>
  <cp:lastModifiedBy>Segun Lawal</cp:lastModifiedBy>
  <cp:revision>1</cp:revision>
  <dcterms:created xsi:type="dcterms:W3CDTF">2026-04-26T19:10:38Z</dcterms:created>
  <dcterms:modified xsi:type="dcterms:W3CDTF">2026-05-28T00:50:36Z</dcterms:modified>
</cp:coreProperties>
</file>